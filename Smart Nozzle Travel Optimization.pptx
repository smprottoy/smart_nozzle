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notesMasterIdLst>
    <p:notesMasterId r:id="rId24"/>
  </p:notesMasterIdLst>
  <p:sldIdLst>
    <p:sldId id="256" r:id="rId5"/>
    <p:sldId id="466" r:id="rId6"/>
    <p:sldId id="469" r:id="rId7"/>
    <p:sldId id="470" r:id="rId8"/>
    <p:sldId id="471" r:id="rId9"/>
    <p:sldId id="474" r:id="rId10"/>
    <p:sldId id="482" r:id="rId11"/>
    <p:sldId id="483" r:id="rId12"/>
    <p:sldId id="475" r:id="rId13"/>
    <p:sldId id="484" r:id="rId14"/>
    <p:sldId id="485" r:id="rId15"/>
    <p:sldId id="486" r:id="rId16"/>
    <p:sldId id="478" r:id="rId17"/>
    <p:sldId id="481" r:id="rId18"/>
    <p:sldId id="477" r:id="rId19"/>
    <p:sldId id="480" r:id="rId20"/>
    <p:sldId id="487" r:id="rId21"/>
    <p:sldId id="476" r:id="rId22"/>
    <p:sldId id="26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213E"/>
    <a:srgbClr val="76E1FA"/>
    <a:srgbClr val="15CD19"/>
    <a:srgbClr val="FF9900"/>
    <a:srgbClr val="A51E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C00689-8969-C601-B4D7-AF14358E630E}" v="489" dt="2025-05-06T03:48:34.570"/>
    <p1510:client id="{D45FB816-F10E-4844-9B2C-F61B41DF0EBA}" v="236" dt="2025-05-05T21:49:05.552"/>
    <p1510:client id="{FCED7FFD-1FCD-BDD5-B089-A4AEF261972B}" v="829" dt="2025-05-06T00:34:06.5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BE40B9-FDE1-4144-999F-7EE6764E325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B0351-BF63-4BA4-A60D-B841D1F28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571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0">
                      <a:schemeClr val="tx1"/>
                    </a:gs>
                    <a:gs pos="68000">
                      <a:srgbClr val="F1F1F1"/>
                    </a:gs>
                    <a:gs pos="100000">
                      <a:schemeClr val="bg1">
                        <a:lumMod val="11000"/>
                        <a:lumOff val="89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defRPr>
            </a:lvl1pPr>
          </a:lstStyle>
          <a:p>
            <a:pPr lvl="0" algn="r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</a:lstStyle>
          <a:p>
            <a:pPr marL="0" lvl="0" indent="0" algn="r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2420-65B4-4C23-BC01-0A87B3D22D73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978A-AC1C-47D0-8D21-38702FC49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561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2420-65B4-4C23-BC01-0A87B3D22D73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978A-AC1C-47D0-8D21-38702FC49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769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32000"/>
                        <a:lumOff val="68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2420-65B4-4C23-BC01-0A87B3D22D73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978A-AC1C-47D0-8D21-38702FC49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473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2420-65B4-4C23-BC01-0A87B3D22D73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978A-AC1C-47D0-8D21-38702FC49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361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2420-65B4-4C23-BC01-0A87B3D22D73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978A-AC1C-47D0-8D21-38702FC49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515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2420-65B4-4C23-BC01-0A87B3D22D73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978A-AC1C-47D0-8D21-38702FC49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020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2420-65B4-4C23-BC01-0A87B3D22D73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978A-AC1C-47D0-8D21-38702FC49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281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2420-65B4-4C23-BC01-0A87B3D22D73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978A-AC1C-47D0-8D21-38702FC49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505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2420-65B4-4C23-BC01-0A87B3D22D73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978A-AC1C-47D0-8D21-38702FC49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411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2420-65B4-4C23-BC01-0A87B3D22D73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978A-AC1C-47D0-8D21-38702FC49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163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2420-65B4-4C23-BC01-0A87B3D22D73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978A-AC1C-47D0-8D21-38702FC49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832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2420-65B4-4C23-BC01-0A87B3D22D73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978A-AC1C-47D0-8D21-38702FC498F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952395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2420-65B4-4C23-BC01-0A87B3D22D73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978A-AC1C-47D0-8D21-38702FC49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4358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2420-65B4-4C23-BC01-0A87B3D22D73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978A-AC1C-47D0-8D21-38702FC49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965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2420-65B4-4C23-BC01-0A87B3D22D73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978A-AC1C-47D0-8D21-38702FC49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198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2420-65B4-4C23-BC01-0A87B3D22D73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978A-AC1C-47D0-8D21-38702FC49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5119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2420-65B4-4C23-BC01-0A87B3D22D73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978A-AC1C-47D0-8D21-38702FC49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90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9EE82420-65B4-4C23-BC01-0A87B3D22D73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88E2978A-AC1C-47D0-8D21-38702FC49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4660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51E36"/>
            </a:gs>
            <a:gs pos="7000">
              <a:schemeClr val="tx1"/>
            </a:gs>
            <a:gs pos="92000">
              <a:schemeClr val="tx1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FBB3F-8B1E-8CD6-7CAA-AE1A51EF2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6764" y="2026680"/>
            <a:ext cx="11185236" cy="2031513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54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Smart Nozzle Travel Optimization</a:t>
            </a:r>
            <a:endParaRPr lang="en-US" sz="5400" baseline="300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D9555-0F48-A452-6F5F-20BFF79DB739}"/>
              </a:ext>
            </a:extLst>
          </p:cNvPr>
          <p:cNvSpPr/>
          <p:nvPr/>
        </p:nvSpPr>
        <p:spPr>
          <a:xfrm>
            <a:off x="0" y="0"/>
            <a:ext cx="1006764" cy="6858000"/>
          </a:xfrm>
          <a:prstGeom prst="rect">
            <a:avLst/>
          </a:prstGeom>
          <a:gradFill flip="none" rotWithShape="1">
            <a:gsLst>
              <a:gs pos="0">
                <a:srgbClr val="A51E36"/>
              </a:gs>
              <a:gs pos="44000">
                <a:srgbClr val="A51E36"/>
              </a:gs>
              <a:gs pos="68000">
                <a:srgbClr val="A51E36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6D89C685-5B29-195D-197B-C26E8DAF4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19"/>
            <a:ext cx="996385" cy="7573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8E5DDF2-D941-CD65-6646-9EF2B4A35F8A}"/>
              </a:ext>
            </a:extLst>
          </p:cNvPr>
          <p:cNvSpPr txBox="1"/>
          <p:nvPr/>
        </p:nvSpPr>
        <p:spPr>
          <a:xfrm>
            <a:off x="1003243" y="3780488"/>
            <a:ext cx="11187083" cy="12441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fontAlgn="base">
              <a:lnSpc>
                <a:spcPts val="1552"/>
              </a:lnSpc>
              <a:spcAft>
                <a:spcPts val="800"/>
              </a:spcAft>
            </a:pPr>
            <a:r>
              <a:rPr lang="en-US" sz="2400" b="1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Team Members:</a:t>
            </a:r>
            <a:r>
              <a:rPr lang="en-US" sz="24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Salman Mahmud </a:t>
            </a:r>
            <a:r>
              <a:rPr lang="en-US" sz="24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Prottoy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4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Youwen</a:t>
            </a:r>
            <a:r>
              <a:rPr lang="en-US" sz="24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Liang, Mehedi Hasan </a:t>
            </a:r>
            <a:endParaRPr lang="en-US" b="0" i="0">
              <a:solidFill>
                <a:srgbClr val="FFFFFF"/>
              </a:solidFill>
              <a:effectLst/>
              <a:latin typeface="Calibri"/>
              <a:ea typeface="Calibri"/>
              <a:cs typeface="Calibri"/>
            </a:endParaRPr>
          </a:p>
          <a:p>
            <a:pPr algn="ctr" rtl="0" fontAlgn="base">
              <a:lnSpc>
                <a:spcPts val="1552"/>
              </a:lnSpc>
              <a:spcAft>
                <a:spcPts val="800"/>
              </a:spcAft>
              <a:buNone/>
            </a:pPr>
            <a:endParaRPr lang="en-US" sz="2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rtl="0" fontAlgn="base">
              <a:lnSpc>
                <a:spcPts val="1552"/>
              </a:lnSpc>
              <a:spcAft>
                <a:spcPts val="800"/>
              </a:spcAft>
              <a:buNone/>
            </a:pPr>
            <a:endParaRPr lang="en-US" sz="2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fontAlgn="base">
              <a:lnSpc>
                <a:spcPts val="1552"/>
              </a:lnSpc>
              <a:spcAft>
                <a:spcPts val="800"/>
              </a:spcAft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5 May</a:t>
            </a:r>
            <a:r>
              <a:rPr lang="en-US" sz="24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2025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6A5BBC-3EB4-81C3-DE4D-0284F3C7FF64}"/>
              </a:ext>
            </a:extLst>
          </p:cNvPr>
          <p:cNvSpPr txBox="1"/>
          <p:nvPr/>
        </p:nvSpPr>
        <p:spPr>
          <a:xfrm>
            <a:off x="4752975" y="3042436"/>
            <a:ext cx="6096000" cy="30713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 rtl="0" fontAlgn="base">
              <a:lnSpc>
                <a:spcPts val="1552"/>
              </a:lnSpc>
              <a:spcAft>
                <a:spcPts val="800"/>
              </a:spcAft>
              <a:buNone/>
            </a:pPr>
            <a:r>
              <a:rPr lang="en-US" sz="18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MEEG 56303 - Additive Manufacturing </a:t>
            </a:r>
          </a:p>
        </p:txBody>
      </p:sp>
    </p:spTree>
    <p:extLst>
      <p:ext uri="{BB962C8B-B14F-4D97-AF65-F5344CB8AC3E}">
        <p14:creationId xmlns:p14="http://schemas.microsoft.com/office/powerpoint/2010/main" val="42829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51E36"/>
            </a:gs>
            <a:gs pos="7000">
              <a:schemeClr val="tx1"/>
            </a:gs>
            <a:gs pos="92000">
              <a:schemeClr val="tx1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CE3E1A-3838-954E-03D4-146D2ED6F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01DD4-1A71-DB4D-7F62-A22C18BA5A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6764" y="1"/>
            <a:ext cx="11185236" cy="757382"/>
          </a:xfrm>
          <a:noFill/>
        </p:spPr>
        <p:txBody>
          <a:bodyPr>
            <a:normAutofit/>
          </a:bodyPr>
          <a:lstStyle/>
          <a:p>
            <a:pPr algn="ctr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Presentation Outline</a:t>
            </a:r>
            <a:endParaRPr lang="en-US" sz="4000" b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CA5DA8-A983-0C77-583D-D74AB545B978}"/>
              </a:ext>
            </a:extLst>
          </p:cNvPr>
          <p:cNvSpPr/>
          <p:nvPr/>
        </p:nvSpPr>
        <p:spPr>
          <a:xfrm>
            <a:off x="0" y="0"/>
            <a:ext cx="1006764" cy="6858000"/>
          </a:xfrm>
          <a:prstGeom prst="rect">
            <a:avLst/>
          </a:prstGeom>
          <a:gradFill flip="none" rotWithShape="1">
            <a:gsLst>
              <a:gs pos="0">
                <a:srgbClr val="A51E36"/>
              </a:gs>
              <a:gs pos="44000">
                <a:srgbClr val="A51E36"/>
              </a:gs>
              <a:gs pos="68000">
                <a:srgbClr val="A51E36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E6334A45-2A9D-999B-5E19-A7849FCAEA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19"/>
            <a:ext cx="996385" cy="757382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9EB020A3-FFBF-5184-E624-BAA04E2CC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765" y="815998"/>
            <a:ext cx="11185235" cy="4092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Introduction</a:t>
            </a:r>
          </a:p>
          <a:p>
            <a:pPr marL="514350" indent="-514350" defTabSz="914400">
              <a:lnSpc>
                <a:spcPct val="90000"/>
              </a:lnSpc>
              <a:spcBef>
                <a:spcPts val="1000"/>
              </a:spcBef>
              <a:buAutoNum type="arabicPeriod"/>
              <a:defRPr/>
            </a:pPr>
            <a:r>
              <a:rPr lang="en-US" sz="28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Problem Statement</a:t>
            </a:r>
            <a:endParaRPr lang="en-US" sz="28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514350" indent="-514350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/>
            </a:pPr>
            <a:r>
              <a:rPr lang="en-US" sz="28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Design</a:t>
            </a:r>
            <a:endParaRPr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514350" indent="-514350" defTabSz="914400">
              <a:lnSpc>
                <a:spcPct val="90000"/>
              </a:lnSpc>
              <a:spcBef>
                <a:spcPts val="1000"/>
              </a:spcBef>
              <a:buAutoNum type="arabicPeriod"/>
              <a:defRPr/>
            </a:pPr>
            <a:r>
              <a:rPr lang="en-US" sz="28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Implementation</a:t>
            </a:r>
          </a:p>
          <a:p>
            <a:pPr marL="514350" indent="-514350" defTabSz="914400">
              <a:lnSpc>
                <a:spcPct val="90000"/>
              </a:lnSpc>
              <a:spcBef>
                <a:spcPts val="1000"/>
              </a:spcBef>
              <a:buFontTx/>
              <a:buAutoNum type="arabicPeriod"/>
              <a:defRPr/>
            </a:pPr>
            <a:r>
              <a:rPr lang="en-US" sz="28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Testing</a:t>
            </a:r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Findings</a:t>
            </a:r>
            <a:endParaRPr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Future Works</a:t>
            </a:r>
            <a:endParaRPr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Conclusion</a:t>
            </a:r>
            <a:endParaRPr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4661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51E36"/>
            </a:gs>
            <a:gs pos="7000">
              <a:schemeClr val="tx1"/>
            </a:gs>
            <a:gs pos="92000">
              <a:schemeClr val="tx1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313286-6C36-4583-B041-EE689577C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B627D-90F0-3921-C14F-B1511FA8E6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6764" y="0"/>
            <a:ext cx="11185236" cy="1112363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3600" b="1" spc="0">
                <a:solidFill>
                  <a:prstClr val="black"/>
                </a:solidFill>
                <a:effectLst/>
                <a:latin typeface="Calibri"/>
                <a:ea typeface="Calibri"/>
                <a:cs typeface="Calibri"/>
              </a:rPr>
              <a:t>Introduction : Enhancing Path Efficiency in Additive </a:t>
            </a:r>
            <a:br>
              <a:rPr lang="en-US" sz="3600" b="1" spc="0">
                <a:effectLst/>
                <a:latin typeface="Calibri"/>
              </a:rPr>
            </a:br>
            <a:r>
              <a:rPr lang="en-US" sz="3600" b="1" spc="0">
                <a:solidFill>
                  <a:prstClr val="black"/>
                </a:solidFill>
                <a:effectLst/>
                <a:latin typeface="Calibri"/>
                <a:ea typeface="Calibri"/>
                <a:cs typeface="Calibri"/>
              </a:rPr>
              <a:t>Manufacturing</a:t>
            </a:r>
            <a:endParaRPr lang="en-US" sz="4000" b="1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835723-1323-9D55-6981-5CE85AB8FD2F}"/>
              </a:ext>
            </a:extLst>
          </p:cNvPr>
          <p:cNvSpPr/>
          <p:nvPr/>
        </p:nvSpPr>
        <p:spPr>
          <a:xfrm>
            <a:off x="0" y="0"/>
            <a:ext cx="1006764" cy="6858000"/>
          </a:xfrm>
          <a:prstGeom prst="rect">
            <a:avLst/>
          </a:prstGeom>
          <a:gradFill flip="none" rotWithShape="1">
            <a:gsLst>
              <a:gs pos="0">
                <a:srgbClr val="A51E36"/>
              </a:gs>
              <a:gs pos="44000">
                <a:srgbClr val="A51E36"/>
              </a:gs>
              <a:gs pos="68000">
                <a:srgbClr val="A51E36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200"/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57269610-4AF8-A536-8982-E9D52CE6B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19"/>
            <a:ext cx="996385" cy="7573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B6C6B3-90E4-A33F-5562-3EC7DA2C0EA5}"/>
              </a:ext>
            </a:extLst>
          </p:cNvPr>
          <p:cNvSpPr txBox="1"/>
          <p:nvPr/>
        </p:nvSpPr>
        <p:spPr>
          <a:xfrm>
            <a:off x="4089329" y="64886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F751C66-D86A-008D-606F-E65EF10D9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618" y="1564243"/>
            <a:ext cx="11003528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Additive Manufacturing (AM), or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3D printing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, enables complex structure fabrication via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layer-by-layer deposition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alibri"/>
              <a:ea typeface="Calibri"/>
              <a:cs typeface="Calibri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Fused Deposition Modelling (FDM)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 suffers from inefficient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non-extrusion movements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 (e.g., travel paths), increasing: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alibri"/>
              <a:ea typeface="Calibri"/>
              <a:cs typeface="Calibri"/>
            </a:endParaRPr>
          </a:p>
          <a:p>
            <a:pPr marL="1371600" lvl="2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Total printing time</a:t>
            </a:r>
          </a:p>
          <a:p>
            <a:pPr marL="1371600" lvl="2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Energy consumption</a:t>
            </a:r>
          </a:p>
          <a:p>
            <a:pPr marL="1371600" lvl="2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Mechanical wear</a:t>
            </a:r>
          </a:p>
          <a:p>
            <a:pPr marL="1371600" lvl="2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86938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51E36"/>
            </a:gs>
            <a:gs pos="7000">
              <a:schemeClr val="tx1"/>
            </a:gs>
            <a:gs pos="92000">
              <a:schemeClr val="tx1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EC3670-3140-78ED-E5FE-B78EC7C06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7DC3B-79B6-224F-6547-E8D98DC7D9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6764" y="0"/>
            <a:ext cx="11185236" cy="1112363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3600" b="1" spc="0">
                <a:solidFill>
                  <a:prstClr val="black"/>
                </a:solidFill>
                <a:effectLst/>
                <a:latin typeface="Calibri"/>
                <a:ea typeface="Calibri"/>
                <a:cs typeface="Calibri"/>
              </a:rPr>
              <a:t>Problem Statement</a:t>
            </a:r>
            <a:endParaRPr lang="en-US" sz="4000" b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92462D-735C-223D-6E68-43AFD1D4CB86}"/>
              </a:ext>
            </a:extLst>
          </p:cNvPr>
          <p:cNvSpPr/>
          <p:nvPr/>
        </p:nvSpPr>
        <p:spPr>
          <a:xfrm>
            <a:off x="0" y="0"/>
            <a:ext cx="1006764" cy="6858000"/>
          </a:xfrm>
          <a:prstGeom prst="rect">
            <a:avLst/>
          </a:prstGeom>
          <a:gradFill flip="none" rotWithShape="1">
            <a:gsLst>
              <a:gs pos="0">
                <a:srgbClr val="A51E36"/>
              </a:gs>
              <a:gs pos="44000">
                <a:srgbClr val="A51E36"/>
              </a:gs>
              <a:gs pos="68000">
                <a:srgbClr val="A51E36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0D5A34EE-6897-5760-B9D9-8C2474755F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19"/>
            <a:ext cx="996385" cy="7573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A7228C-F1AF-2C8C-72E4-82DEEF771284}"/>
              </a:ext>
            </a:extLst>
          </p:cNvPr>
          <p:cNvSpPr txBox="1"/>
          <p:nvPr/>
        </p:nvSpPr>
        <p:spPr>
          <a:xfrm>
            <a:off x="4089329" y="64886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5278396-4BE0-1C67-1506-E6E5A158D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472" y="1736228"/>
            <a:ext cx="11003528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Traditional slicers use fixed geometric strategies without </a:t>
            </a:r>
            <a:r>
              <a:rPr kumimoji="0" lang="en-US" altLang="en-US" sz="2800" b="0" i="0" u="none" strike="noStrike" cap="none" normalizeH="0" baseline="0" err="1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optimizing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 the travel path.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Leads to: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alibri"/>
              <a:ea typeface="Calibri"/>
              <a:cs typeface="Calibri"/>
            </a:endParaRPr>
          </a:p>
          <a:p>
            <a:pPr marL="1371600" lvl="2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Redundant motions (e.g., backtracking, sharp turns)</a:t>
            </a:r>
          </a:p>
          <a:p>
            <a:pPr marL="1371600" lvl="2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Poor energy efficiency</a:t>
            </a:r>
          </a:p>
          <a:p>
            <a:pPr marL="1371600" lvl="2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Suboptimal printing speed</a:t>
            </a:r>
          </a:p>
        </p:txBody>
      </p:sp>
    </p:spTree>
    <p:extLst>
      <p:ext uri="{BB962C8B-B14F-4D97-AF65-F5344CB8AC3E}">
        <p14:creationId xmlns:p14="http://schemas.microsoft.com/office/powerpoint/2010/main" val="3062209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51E36"/>
            </a:gs>
            <a:gs pos="7000">
              <a:schemeClr val="tx1"/>
            </a:gs>
            <a:gs pos="92000">
              <a:schemeClr val="tx1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84C583-D7E9-6719-A5CA-B75759E35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8BEBE-DB25-DCA5-FCBA-D89CD12D6A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6764" y="38100"/>
            <a:ext cx="11185236" cy="1112363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3600" b="1" spc="0">
                <a:solidFill>
                  <a:prstClr val="black"/>
                </a:solidFill>
                <a:effectLst/>
                <a:latin typeface="Calibri"/>
                <a:ea typeface="Calibri"/>
                <a:cs typeface="Calibri"/>
              </a:rPr>
              <a:t>Research Objectives</a:t>
            </a:r>
            <a:endParaRPr lang="en-US" sz="4000" b="1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95D5D4-97DF-C756-3A66-DE5B4D91D32D}"/>
              </a:ext>
            </a:extLst>
          </p:cNvPr>
          <p:cNvSpPr/>
          <p:nvPr/>
        </p:nvSpPr>
        <p:spPr>
          <a:xfrm>
            <a:off x="0" y="0"/>
            <a:ext cx="1006764" cy="6858000"/>
          </a:xfrm>
          <a:prstGeom prst="rect">
            <a:avLst/>
          </a:prstGeom>
          <a:gradFill flip="none" rotWithShape="1">
            <a:gsLst>
              <a:gs pos="0">
                <a:srgbClr val="A51E36"/>
              </a:gs>
              <a:gs pos="44000">
                <a:srgbClr val="A51E36"/>
              </a:gs>
              <a:gs pos="68000">
                <a:srgbClr val="A51E36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04AE5808-2CA7-A3A1-62BD-199C32E4BD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19"/>
            <a:ext cx="996385" cy="7573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D9F30B-6D49-E367-D7CE-600C8B4458D6}"/>
              </a:ext>
            </a:extLst>
          </p:cNvPr>
          <p:cNvSpPr txBox="1"/>
          <p:nvPr/>
        </p:nvSpPr>
        <p:spPr>
          <a:xfrm>
            <a:off x="4089329" y="64886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B01CBD2-FCA6-80EC-FDB5-75B206662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472" y="1215240"/>
            <a:ext cx="1100352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Model travel path </a:t>
            </a:r>
            <a:r>
              <a:rPr lang="en-US" altLang="en-US" sz="28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optimization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 as a combinatorial problem, akin to the Travelling Salesman Problem (TSP).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alibri"/>
              <a:ea typeface="Calibri"/>
              <a:cs typeface="Calibri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Propose an improved greedy algorithm with: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"/>
              <a:ea typeface="Calibri"/>
              <a:cs typeface="Calibri"/>
            </a:endParaRPr>
          </a:p>
          <a:p>
            <a:pPr marL="1371600" lvl="2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Dynamic priority adjustment based on real-time print segment distribution</a:t>
            </a:r>
            <a:endParaRPr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"/>
              <a:ea typeface="Calibri"/>
              <a:cs typeface="Calibri"/>
            </a:endParaRPr>
          </a:p>
          <a:p>
            <a:pPr marL="1371600" lvl="2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/>
                <a:ea typeface="+mn-lt"/>
                <a:cs typeface="+mn-lt"/>
              </a:rPr>
              <a:t>A 2-Opt 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+mn-lt"/>
                <a:cs typeface="+mn-lt"/>
              </a:rPr>
              <a:t>local</a:t>
            </a:r>
            <a:r>
              <a:rPr lang="en-US" sz="2800" dirty="0">
                <a:solidFill>
                  <a:schemeClr val="bg1"/>
                </a:solidFill>
                <a:latin typeface="Calibri"/>
                <a:ea typeface="+mn-lt"/>
                <a:cs typeface="+mn-lt"/>
              </a:rPr>
              <a:t>‐search which iteratively swaps any two segments if it reduces total travel distance.</a:t>
            </a:r>
            <a:endParaRPr 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99372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51E36"/>
            </a:gs>
            <a:gs pos="7000">
              <a:schemeClr val="tx1"/>
            </a:gs>
            <a:gs pos="92000">
              <a:schemeClr val="tx1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7E23E7-1C41-4B0D-BDDA-12D592D82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B59B-569C-B66B-C930-6386E70B5C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385" y="55419"/>
            <a:ext cx="11185236" cy="1112363"/>
          </a:xfrm>
          <a:noFill/>
        </p:spPr>
        <p:txBody>
          <a:bodyPr>
            <a:normAutofit fontScale="90000"/>
          </a:bodyPr>
          <a:lstStyle/>
          <a:p>
            <a:pPr algn="ctr"/>
            <a:r>
              <a:rPr lang="en-US" sz="3600" b="1" spc="0">
                <a:solidFill>
                  <a:prstClr val="black"/>
                </a:solidFill>
                <a:effectLst/>
                <a:latin typeface="Calibri"/>
                <a:ea typeface="Calibri"/>
                <a:cs typeface="Calibri"/>
              </a:rPr>
              <a:t>Design : Model Selection &amp; G-code Generation</a:t>
            </a:r>
            <a:b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</a:br>
            <a:endParaRPr lang="en-US" sz="4000" b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CD74FB-54B4-4BDE-32DC-6CB59D7DD660}"/>
              </a:ext>
            </a:extLst>
          </p:cNvPr>
          <p:cNvSpPr/>
          <p:nvPr/>
        </p:nvSpPr>
        <p:spPr>
          <a:xfrm>
            <a:off x="0" y="0"/>
            <a:ext cx="1006764" cy="6858000"/>
          </a:xfrm>
          <a:prstGeom prst="rect">
            <a:avLst/>
          </a:prstGeom>
          <a:gradFill flip="none" rotWithShape="1">
            <a:gsLst>
              <a:gs pos="0">
                <a:srgbClr val="A51E36"/>
              </a:gs>
              <a:gs pos="44000">
                <a:srgbClr val="A51E36"/>
              </a:gs>
              <a:gs pos="68000">
                <a:srgbClr val="A51E36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E900187D-F5CE-F338-91B2-67310DBDDB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19"/>
            <a:ext cx="996385" cy="7573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DA9321-1F2E-9571-BE11-CF57F63B422B}"/>
              </a:ext>
            </a:extLst>
          </p:cNvPr>
          <p:cNvSpPr txBox="1"/>
          <p:nvPr/>
        </p:nvSpPr>
        <p:spPr>
          <a:xfrm>
            <a:off x="4089329" y="64886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AC9BDFC-3912-3852-5258-1FE611DC9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472" y="2800290"/>
            <a:ext cx="11003528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Didact Gothic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0F537AB4-DF40-396D-14D2-AE9890213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0882" y="1378286"/>
            <a:ext cx="9816242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Used </a:t>
            </a:r>
            <a:r>
              <a:rPr lang="en-US" altLang="en-US" sz="2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built-in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online 3D models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alibri"/>
              <a:ea typeface="Calibri"/>
              <a:cs typeface="Calibri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G-code generated using two slicers:</a:t>
            </a:r>
            <a:endParaRPr lang="en-US" altLang="en-US" sz="28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1371600" lvl="2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1" i="0" u="none" strike="noStrike" cap="none" normalizeH="0" baseline="0" err="1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PrusaSlicer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alibri"/>
              <a:ea typeface="Calibri"/>
              <a:cs typeface="Calibri"/>
            </a:endParaRPr>
          </a:p>
          <a:p>
            <a:pPr marL="1371600" lvl="2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1" i="0" u="none" strike="noStrike" cap="none" normalizeH="0" baseline="0" err="1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BambuStudio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alibri"/>
              <a:ea typeface="Calibri"/>
              <a:cs typeface="Calibri"/>
            </a:endParaRPr>
          </a:p>
          <a:p>
            <a:pPr marL="1371600" lvl="2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alibri"/>
              <a:ea typeface="Calibri"/>
              <a:cs typeface="Calibri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Compared </a:t>
            </a:r>
            <a:r>
              <a:rPr lang="en-US" altLang="en-US" sz="28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pre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 and </a:t>
            </a:r>
            <a:r>
              <a:rPr lang="en-US" altLang="en-US" sz="28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post-optimization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 print </a:t>
            </a:r>
            <a:r>
              <a:rPr lang="en-US" altLang="en-US" sz="28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times.</a:t>
            </a:r>
            <a:endParaRPr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3653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51E36"/>
            </a:gs>
            <a:gs pos="7000">
              <a:schemeClr val="tx1"/>
            </a:gs>
            <a:gs pos="92000">
              <a:schemeClr val="tx1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F80EB7-7AE0-6604-004C-084D2A91A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B08AB-F3B5-7D96-0C43-6918FE12E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385" y="55419"/>
            <a:ext cx="11185236" cy="1112363"/>
          </a:xfrm>
          <a:noFill/>
        </p:spPr>
        <p:txBody>
          <a:bodyPr>
            <a:normAutofit fontScale="90000"/>
          </a:bodyPr>
          <a:lstStyle/>
          <a:p>
            <a:pPr algn="ctr"/>
            <a:r>
              <a:rPr lang="en-US" sz="3600" b="1" spc="0">
                <a:solidFill>
                  <a:prstClr val="black"/>
                </a:solidFill>
                <a:effectLst/>
                <a:latin typeface="Calibri"/>
                <a:ea typeface="Calibri"/>
                <a:cs typeface="Calibri"/>
              </a:rPr>
              <a:t>Design</a:t>
            </a:r>
            <a:b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</a:br>
            <a:endParaRPr lang="en-US" sz="4000" b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891084-97C1-A59A-A9D9-BF0015FEC1EA}"/>
              </a:ext>
            </a:extLst>
          </p:cNvPr>
          <p:cNvSpPr/>
          <p:nvPr/>
        </p:nvSpPr>
        <p:spPr>
          <a:xfrm>
            <a:off x="0" y="0"/>
            <a:ext cx="1006764" cy="6858000"/>
          </a:xfrm>
          <a:prstGeom prst="rect">
            <a:avLst/>
          </a:prstGeom>
          <a:gradFill flip="none" rotWithShape="1">
            <a:gsLst>
              <a:gs pos="0">
                <a:srgbClr val="A51E36"/>
              </a:gs>
              <a:gs pos="44000">
                <a:srgbClr val="A51E36"/>
              </a:gs>
              <a:gs pos="68000">
                <a:srgbClr val="A51E36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87915A55-7BC5-F746-9549-1815E3961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19"/>
            <a:ext cx="996385" cy="7573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DD5F7B-D6A6-EFAE-CCA2-124ABE419B3C}"/>
              </a:ext>
            </a:extLst>
          </p:cNvPr>
          <p:cNvSpPr txBox="1"/>
          <p:nvPr/>
        </p:nvSpPr>
        <p:spPr>
          <a:xfrm>
            <a:off x="4089329" y="64886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DC23253-E965-A888-8706-07D54E769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472" y="2800290"/>
            <a:ext cx="11003528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Didact Gothic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102" name="Picture 6" descr="Picture">
            <a:extLst>
              <a:ext uri="{FF2B5EF4-FFF2-40B4-BE49-F238E27FC236}">
                <a16:creationId xmlns:a16="http://schemas.microsoft.com/office/drawing/2014/main" id="{8468415C-E791-0AFC-68D6-B5923D73A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1463" y="2532138"/>
            <a:ext cx="8865217" cy="3362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5407E1-C349-0B13-3400-F981762048E1}"/>
              </a:ext>
            </a:extLst>
          </p:cNvPr>
          <p:cNvSpPr txBox="1"/>
          <p:nvPr/>
        </p:nvSpPr>
        <p:spPr>
          <a:xfrm>
            <a:off x="4739778" y="5894806"/>
            <a:ext cx="3698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Didact Gothic" panose="00000500000000000000" pitchFamily="2" charset="0"/>
              </a:rPr>
              <a:t>Figure 01: Workflow design diagram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201549-0CFB-1406-EF9B-B7DB201C6A73}"/>
              </a:ext>
            </a:extLst>
          </p:cNvPr>
          <p:cNvSpPr txBox="1"/>
          <p:nvPr/>
        </p:nvSpPr>
        <p:spPr>
          <a:xfrm>
            <a:off x="1178093" y="906172"/>
            <a:ext cx="11003528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Core Modules: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gcode_parser.py: Handles file parsing &amp; statistics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smart_nozzle.py: Implements 2-Opt TSP-based path optimization</a:t>
            </a:r>
          </a:p>
        </p:txBody>
      </p:sp>
    </p:spTree>
    <p:extLst>
      <p:ext uri="{BB962C8B-B14F-4D97-AF65-F5344CB8AC3E}">
        <p14:creationId xmlns:p14="http://schemas.microsoft.com/office/powerpoint/2010/main" val="3749595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51E36"/>
            </a:gs>
            <a:gs pos="7000">
              <a:schemeClr val="tx1"/>
            </a:gs>
            <a:gs pos="92000">
              <a:schemeClr val="tx1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F379B8-C846-CEA9-6ABB-D62CC2845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A4B22-9854-7F27-5D0A-95EF461B6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385" y="55419"/>
            <a:ext cx="11185236" cy="1112363"/>
          </a:xfrm>
          <a:noFill/>
        </p:spPr>
        <p:txBody>
          <a:bodyPr>
            <a:normAutofit fontScale="90000"/>
          </a:bodyPr>
          <a:lstStyle/>
          <a:p>
            <a:pPr algn="ctr"/>
            <a:r>
              <a:rPr lang="en-US" sz="3600" b="1" spc="0">
                <a:solidFill>
                  <a:prstClr val="black"/>
                </a:solidFill>
                <a:effectLst/>
                <a:latin typeface="Calibri"/>
                <a:ea typeface="Calibri"/>
                <a:cs typeface="Calibri"/>
              </a:rPr>
              <a:t>Design</a:t>
            </a:r>
            <a:b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</a:br>
            <a:endParaRPr lang="en-US" sz="4000" b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31F321-7640-0083-AEDB-6862EDA44512}"/>
              </a:ext>
            </a:extLst>
          </p:cNvPr>
          <p:cNvSpPr/>
          <p:nvPr/>
        </p:nvSpPr>
        <p:spPr>
          <a:xfrm>
            <a:off x="0" y="0"/>
            <a:ext cx="1006764" cy="6858000"/>
          </a:xfrm>
          <a:prstGeom prst="rect">
            <a:avLst/>
          </a:prstGeom>
          <a:gradFill flip="none" rotWithShape="1">
            <a:gsLst>
              <a:gs pos="0">
                <a:srgbClr val="A51E36"/>
              </a:gs>
              <a:gs pos="44000">
                <a:srgbClr val="A51E36"/>
              </a:gs>
              <a:gs pos="68000">
                <a:srgbClr val="A51E36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87CDF723-A52D-581B-0C24-A728D5785F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19"/>
            <a:ext cx="996385" cy="7573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856161-1037-1FD6-8A22-CF8854E65221}"/>
              </a:ext>
            </a:extLst>
          </p:cNvPr>
          <p:cNvSpPr txBox="1"/>
          <p:nvPr/>
        </p:nvSpPr>
        <p:spPr>
          <a:xfrm>
            <a:off x="4089329" y="64886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400D0FB-5C8F-F305-39A8-5601C913D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472" y="2800290"/>
            <a:ext cx="11003528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Didact Gothic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64F09D-ABE8-9DDC-3A9C-C048081C1201}"/>
              </a:ext>
            </a:extLst>
          </p:cNvPr>
          <p:cNvSpPr txBox="1"/>
          <p:nvPr/>
        </p:nvSpPr>
        <p:spPr>
          <a:xfrm>
            <a:off x="1494348" y="1228397"/>
            <a:ext cx="10391775" cy="44012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split_file</a:t>
            </a:r>
            <a:r>
              <a:rPr lang="en-US" sz="2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():</a:t>
            </a:r>
          </a:p>
          <a:p>
            <a:endParaRPr lang="en-US" sz="28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Identifies layer boundaries via Z-move regex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Separates header, layer blocks, and footer</a:t>
            </a:r>
          </a:p>
          <a:p>
            <a:endParaRPr lang="en-US" sz="28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r>
              <a:rPr lang="en-US" sz="2800" b="1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parse_stats</a:t>
            </a:r>
            <a:r>
              <a:rPr lang="en-US" sz="2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():</a:t>
            </a:r>
          </a:p>
          <a:p>
            <a:endParaRPr lang="en-US" sz="28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Distinguishes extrusion vs. travel moves 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Tracks feed rate, distance, and XY motion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Generates a summary Data Frame of print metrics</a:t>
            </a:r>
          </a:p>
        </p:txBody>
      </p:sp>
    </p:spTree>
    <p:extLst>
      <p:ext uri="{BB962C8B-B14F-4D97-AF65-F5344CB8AC3E}">
        <p14:creationId xmlns:p14="http://schemas.microsoft.com/office/powerpoint/2010/main" val="4115961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51E36"/>
            </a:gs>
            <a:gs pos="7000">
              <a:schemeClr val="tx1"/>
            </a:gs>
            <a:gs pos="92000">
              <a:schemeClr val="tx1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CBA519-0ADC-F82E-D64C-2B7B6C478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F8AC6-5702-5221-139A-5BBBF5359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385" y="55419"/>
            <a:ext cx="11185236" cy="1112363"/>
          </a:xfrm>
          <a:noFill/>
        </p:spPr>
        <p:txBody>
          <a:bodyPr>
            <a:normAutofit fontScale="90000"/>
          </a:bodyPr>
          <a:lstStyle/>
          <a:p>
            <a:pPr algn="ctr"/>
            <a:r>
              <a:rPr lang="en-US" sz="3600" b="1" spc="0">
                <a:solidFill>
                  <a:prstClr val="black"/>
                </a:solidFill>
                <a:effectLst/>
                <a:latin typeface="Calibri"/>
                <a:ea typeface="Calibri"/>
                <a:cs typeface="Calibri"/>
              </a:rPr>
              <a:t>Implementation</a:t>
            </a:r>
            <a:br>
              <a:rPr lang="en-US" altLang="en-US" sz="4000" b="0" i="0" u="none" strike="noStrike" cap="none" normalizeH="0" baseline="0">
                <a:ln>
                  <a:noFill/>
                </a:ln>
                <a:effectLst/>
                <a:latin typeface="Calibri"/>
                <a:ea typeface="Calibri"/>
                <a:cs typeface="Calibri"/>
              </a:rPr>
            </a:br>
            <a:endParaRPr lang="en-US" sz="4000" b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451720-B6B2-218D-1824-BC2DC6BA708E}"/>
              </a:ext>
            </a:extLst>
          </p:cNvPr>
          <p:cNvSpPr/>
          <p:nvPr/>
        </p:nvSpPr>
        <p:spPr>
          <a:xfrm>
            <a:off x="0" y="0"/>
            <a:ext cx="1006764" cy="6858000"/>
          </a:xfrm>
          <a:prstGeom prst="rect">
            <a:avLst/>
          </a:prstGeom>
          <a:gradFill flip="none" rotWithShape="1">
            <a:gsLst>
              <a:gs pos="0">
                <a:srgbClr val="A51E36"/>
              </a:gs>
              <a:gs pos="44000">
                <a:srgbClr val="A51E36"/>
              </a:gs>
              <a:gs pos="68000">
                <a:srgbClr val="A51E36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BFBA6C43-8C64-F9EE-1CBF-C822A98951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19"/>
            <a:ext cx="996385" cy="7573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3EBCD9-DBEE-02E3-D9FE-8F03F46F45CF}"/>
              </a:ext>
            </a:extLst>
          </p:cNvPr>
          <p:cNvSpPr txBox="1"/>
          <p:nvPr/>
        </p:nvSpPr>
        <p:spPr>
          <a:xfrm>
            <a:off x="4089329" y="64886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F7BB528-A494-8DFE-DEA5-CDF50A3BA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472" y="2800290"/>
            <a:ext cx="11003528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Didact Gothic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图片 4" descr="图片">
            <a:extLst>
              <a:ext uri="{FF2B5EF4-FFF2-40B4-BE49-F238E27FC236}">
                <a16:creationId xmlns:a16="http://schemas.microsoft.com/office/drawing/2014/main" id="{275E1072-5F18-85AE-DD6E-D8D91AEA7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198" y="2286001"/>
            <a:ext cx="5236602" cy="314324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4E76FE2-E309-810C-DBB9-C2FD7CE3F058}"/>
              </a:ext>
            </a:extLst>
          </p:cNvPr>
          <p:cNvSpPr txBox="1"/>
          <p:nvPr/>
        </p:nvSpPr>
        <p:spPr>
          <a:xfrm>
            <a:off x="1183821" y="1483179"/>
            <a:ext cx="459921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Calibri"/>
                <a:ea typeface="华文楷体"/>
                <a:cs typeface="Calibri"/>
              </a:rPr>
              <a:t>Load 3D model in PrusaSlicer 2.9.2</a:t>
            </a:r>
            <a:endParaRPr lang="zh-CN" altLang="en-US">
              <a:solidFill>
                <a:schemeClr val="bg1"/>
              </a:solidFill>
              <a:latin typeface="Calibri"/>
              <a:ea typeface="华文楷体"/>
              <a:cs typeface="Calibri"/>
            </a:endParaRPr>
          </a:p>
        </p:txBody>
      </p:sp>
      <p:pic>
        <p:nvPicPr>
          <p:cNvPr id="10" name="图片 9" descr="图片">
            <a:extLst>
              <a:ext uri="{FF2B5EF4-FFF2-40B4-BE49-F238E27FC236}">
                <a16:creationId xmlns:a16="http://schemas.microsoft.com/office/drawing/2014/main" id="{DA02556A-6F47-E792-2E33-7D932B9E1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735" y="2286000"/>
            <a:ext cx="5359066" cy="314325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FF5D8EC-E04A-5DDA-28C6-5A0BA0F4B4F1}"/>
              </a:ext>
            </a:extLst>
          </p:cNvPr>
          <p:cNvSpPr txBox="1"/>
          <p:nvPr/>
        </p:nvSpPr>
        <p:spPr>
          <a:xfrm>
            <a:off x="6855096" y="1483178"/>
            <a:ext cx="471097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Calibri"/>
                <a:ea typeface="华文楷体"/>
                <a:cs typeface="Calibri"/>
              </a:rPr>
              <a:t>Sliced the model and export G-code</a:t>
            </a:r>
            <a:endParaRPr lang="zh-CN" altLang="en-US">
              <a:solidFill>
                <a:schemeClr val="bg1"/>
              </a:solidFill>
              <a:latin typeface="Calibri"/>
              <a:ea typeface="华文楷体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3257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51E36"/>
            </a:gs>
            <a:gs pos="7000">
              <a:schemeClr val="tx1"/>
            </a:gs>
            <a:gs pos="92000">
              <a:schemeClr val="tx1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DC783-7B31-EAE1-1642-270DF41EA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FC4B3-8DCA-165A-4568-433A49417C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385" y="55419"/>
            <a:ext cx="11185236" cy="1112363"/>
          </a:xfrm>
          <a:noFill/>
        </p:spPr>
        <p:txBody>
          <a:bodyPr>
            <a:normAutofit fontScale="90000"/>
          </a:bodyPr>
          <a:lstStyle/>
          <a:p>
            <a:pPr algn="ctr"/>
            <a:r>
              <a:rPr lang="en-US" sz="3600" b="1" spc="0">
                <a:solidFill>
                  <a:prstClr val="black"/>
                </a:solidFill>
                <a:effectLst/>
                <a:latin typeface="Calibri"/>
                <a:ea typeface="Calibri"/>
                <a:cs typeface="Calibri"/>
              </a:rPr>
              <a:t>Implementation</a:t>
            </a:r>
            <a:br>
              <a:rPr lang="en-US" altLang="en-US" sz="4000" b="0" i="0" u="none" strike="noStrike" cap="none" normalizeH="0" baseline="0">
                <a:ln>
                  <a:noFill/>
                </a:ln>
                <a:effectLst/>
                <a:latin typeface="Calibri"/>
                <a:ea typeface="Calibri"/>
                <a:cs typeface="Calibri"/>
              </a:rPr>
            </a:br>
            <a:endParaRPr lang="en-US" sz="4000" b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D8F636-CD04-A5B6-0393-9F28606B5489}"/>
              </a:ext>
            </a:extLst>
          </p:cNvPr>
          <p:cNvSpPr/>
          <p:nvPr/>
        </p:nvSpPr>
        <p:spPr>
          <a:xfrm>
            <a:off x="0" y="0"/>
            <a:ext cx="1006764" cy="6858000"/>
          </a:xfrm>
          <a:prstGeom prst="rect">
            <a:avLst/>
          </a:prstGeom>
          <a:gradFill flip="none" rotWithShape="1">
            <a:gsLst>
              <a:gs pos="0">
                <a:srgbClr val="A51E36"/>
              </a:gs>
              <a:gs pos="44000">
                <a:srgbClr val="A51E36"/>
              </a:gs>
              <a:gs pos="68000">
                <a:srgbClr val="A51E36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3CC71EF9-E3BA-C894-A1C7-B7B5597138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19"/>
            <a:ext cx="996385" cy="7573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2E80DD-B48E-079C-6E5B-C4803CB9E42B}"/>
              </a:ext>
            </a:extLst>
          </p:cNvPr>
          <p:cNvSpPr txBox="1"/>
          <p:nvPr/>
        </p:nvSpPr>
        <p:spPr>
          <a:xfrm>
            <a:off x="4089329" y="64886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4A886D3-1B35-73F5-978C-E4D8AEA75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472" y="2800290"/>
            <a:ext cx="11003528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Didact Gothic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5F83782-4732-16C2-5E0E-9FCC770B4FC7}"/>
              </a:ext>
            </a:extLst>
          </p:cNvPr>
          <p:cNvSpPr txBox="1"/>
          <p:nvPr/>
        </p:nvSpPr>
        <p:spPr>
          <a:xfrm>
            <a:off x="1006928" y="612322"/>
            <a:ext cx="459921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Calibri"/>
                <a:ea typeface="华文楷体"/>
                <a:cs typeface="Calibri"/>
              </a:rPr>
              <a:t>Extract data from gcode_parser.py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2FF4B8-2FEC-2235-9D28-73B54283D1FC}"/>
              </a:ext>
            </a:extLst>
          </p:cNvPr>
          <p:cNvSpPr txBox="1"/>
          <p:nvPr/>
        </p:nvSpPr>
        <p:spPr>
          <a:xfrm>
            <a:off x="993320" y="2735034"/>
            <a:ext cx="885824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Calibri"/>
                <a:ea typeface="华文楷体"/>
                <a:cs typeface="Calibri"/>
              </a:rPr>
              <a:t>Optimize and output new G-code by running smart_nozzle.py</a:t>
            </a:r>
          </a:p>
        </p:txBody>
      </p:sp>
      <p:pic>
        <p:nvPicPr>
          <p:cNvPr id="7" name="图片 6" descr="图片">
            <a:extLst>
              <a:ext uri="{FF2B5EF4-FFF2-40B4-BE49-F238E27FC236}">
                <a16:creationId xmlns:a16="http://schemas.microsoft.com/office/drawing/2014/main" id="{21485603-9679-A27C-CC07-6CECDCCA9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6" y="1073605"/>
            <a:ext cx="3835855" cy="1717221"/>
          </a:xfrm>
          <a:prstGeom prst="rect">
            <a:avLst/>
          </a:prstGeom>
        </p:spPr>
      </p:pic>
      <p:pic>
        <p:nvPicPr>
          <p:cNvPr id="12" name="图片 11" descr="图片">
            <a:extLst>
              <a:ext uri="{FF2B5EF4-FFF2-40B4-BE49-F238E27FC236}">
                <a16:creationId xmlns:a16="http://schemas.microsoft.com/office/drawing/2014/main" id="{869A7314-0DBA-6705-23C3-AC18EC29AB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999" y="3195957"/>
            <a:ext cx="9865180" cy="1813194"/>
          </a:xfrm>
          <a:prstGeom prst="rect">
            <a:avLst/>
          </a:prstGeom>
        </p:spPr>
      </p:pic>
      <p:pic>
        <p:nvPicPr>
          <p:cNvPr id="13" name="图片 12" descr="图片">
            <a:extLst>
              <a:ext uri="{FF2B5EF4-FFF2-40B4-BE49-F238E27FC236}">
                <a16:creationId xmlns:a16="http://schemas.microsoft.com/office/drawing/2014/main" id="{7D50ACFE-2D9A-5405-A1EF-B377816BAE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442" y="5040767"/>
            <a:ext cx="9854293" cy="1797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909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51E36"/>
            </a:gs>
            <a:gs pos="7000">
              <a:schemeClr val="tx1"/>
            </a:gs>
            <a:gs pos="92000">
              <a:schemeClr val="tx1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20C400-0BCD-53B2-BC2C-DCF784DE3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0B12D-AACB-C405-94AE-29866DC6C9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385" y="55419"/>
            <a:ext cx="11185236" cy="1112363"/>
          </a:xfrm>
          <a:noFill/>
        </p:spPr>
        <p:txBody>
          <a:bodyPr>
            <a:normAutofit fontScale="90000"/>
          </a:bodyPr>
          <a:lstStyle/>
          <a:p>
            <a:pPr algn="ctr"/>
            <a:r>
              <a:rPr lang="en-US" sz="3600" b="1" spc="0">
                <a:solidFill>
                  <a:prstClr val="black"/>
                </a:solidFill>
                <a:effectLst/>
                <a:latin typeface="Calibri"/>
                <a:ea typeface="Calibri"/>
                <a:cs typeface="Calibri"/>
              </a:rPr>
              <a:t>Implementation</a:t>
            </a:r>
            <a:br>
              <a:rPr lang="en-US" altLang="en-US" sz="4000" b="0" i="0" u="none" strike="noStrike" cap="none" normalizeH="0" baseline="0">
                <a:ln>
                  <a:noFill/>
                </a:ln>
                <a:effectLst/>
                <a:latin typeface="Calibri"/>
                <a:ea typeface="Calibri"/>
                <a:cs typeface="Calibri"/>
              </a:rPr>
            </a:br>
            <a:endParaRPr lang="en-US" sz="4000" b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DB95E5-38C5-EEBD-F49D-33C97F2C7572}"/>
              </a:ext>
            </a:extLst>
          </p:cNvPr>
          <p:cNvSpPr/>
          <p:nvPr/>
        </p:nvSpPr>
        <p:spPr>
          <a:xfrm>
            <a:off x="0" y="0"/>
            <a:ext cx="1006764" cy="6858000"/>
          </a:xfrm>
          <a:prstGeom prst="rect">
            <a:avLst/>
          </a:prstGeom>
          <a:gradFill flip="none" rotWithShape="1">
            <a:gsLst>
              <a:gs pos="0">
                <a:srgbClr val="A51E36"/>
              </a:gs>
              <a:gs pos="44000">
                <a:srgbClr val="A51E36"/>
              </a:gs>
              <a:gs pos="68000">
                <a:srgbClr val="A51E36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E47AA200-2378-A5F4-1043-8DF3E35B83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19"/>
            <a:ext cx="996385" cy="7573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7123BD-4A34-69E0-43D2-471F580D28FE}"/>
              </a:ext>
            </a:extLst>
          </p:cNvPr>
          <p:cNvSpPr txBox="1"/>
          <p:nvPr/>
        </p:nvSpPr>
        <p:spPr>
          <a:xfrm>
            <a:off x="4089329" y="64886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6595427-E3BF-BCD1-6930-C60B93609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472" y="2800290"/>
            <a:ext cx="11003528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Didact Gothic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C12BF27-087F-D36C-469F-1477BCE50FF4}"/>
              </a:ext>
            </a:extLst>
          </p:cNvPr>
          <p:cNvSpPr txBox="1"/>
          <p:nvPr/>
        </p:nvSpPr>
        <p:spPr>
          <a:xfrm>
            <a:off x="1183821" y="1483179"/>
            <a:ext cx="745671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Calibri"/>
                <a:ea typeface="华文楷体"/>
                <a:cs typeface="Calibri"/>
              </a:rPr>
              <a:t>Parse and compare the optimized results to original results</a:t>
            </a:r>
            <a:endParaRPr lang="zh-CN" altLang="en-US">
              <a:solidFill>
                <a:schemeClr val="bg1"/>
              </a:solidFill>
              <a:latin typeface="Calibri"/>
              <a:ea typeface="华文楷体"/>
              <a:cs typeface="Calibri"/>
            </a:endParaRPr>
          </a:p>
        </p:txBody>
      </p:sp>
      <p:pic>
        <p:nvPicPr>
          <p:cNvPr id="7" name="图片 6" descr="图片">
            <a:extLst>
              <a:ext uri="{FF2B5EF4-FFF2-40B4-BE49-F238E27FC236}">
                <a16:creationId xmlns:a16="http://schemas.microsoft.com/office/drawing/2014/main" id="{58A51085-7B83-4FE6-8B6A-55B54ABB8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1043" y="2541134"/>
            <a:ext cx="6920592" cy="267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563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51E36"/>
            </a:gs>
            <a:gs pos="7000">
              <a:schemeClr val="tx1"/>
            </a:gs>
            <a:gs pos="92000">
              <a:schemeClr val="tx1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3A8615-8217-81FF-0F9B-5275B1A01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63EDF-10FE-2ED0-ED30-D31817C93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385" y="55419"/>
            <a:ext cx="11185236" cy="1112363"/>
          </a:xfrm>
          <a:noFill/>
        </p:spPr>
        <p:txBody>
          <a:bodyPr>
            <a:normAutofit fontScale="90000"/>
          </a:bodyPr>
          <a:lstStyle/>
          <a:p>
            <a:pPr algn="ctr"/>
            <a:r>
              <a:rPr lang="en-US" sz="3600" b="1" spc="0">
                <a:solidFill>
                  <a:prstClr val="black"/>
                </a:solidFill>
                <a:effectLst/>
                <a:latin typeface="Calibri"/>
                <a:ea typeface="Calibri"/>
                <a:cs typeface="Calibri"/>
              </a:rPr>
              <a:t>Implementation</a:t>
            </a:r>
            <a:br>
              <a:rPr lang="en-US" altLang="en-US" sz="4000" b="0" i="0" u="none" strike="noStrike" cap="none" normalizeH="0" baseline="0">
                <a:ln>
                  <a:noFill/>
                </a:ln>
                <a:effectLst/>
                <a:latin typeface="Calibri"/>
                <a:ea typeface="Calibri"/>
                <a:cs typeface="Calibri"/>
              </a:rPr>
            </a:br>
            <a:endParaRPr lang="en-US" sz="4000" b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08952A-B1B7-CEFD-1768-326A955860B1}"/>
              </a:ext>
            </a:extLst>
          </p:cNvPr>
          <p:cNvSpPr/>
          <p:nvPr/>
        </p:nvSpPr>
        <p:spPr>
          <a:xfrm>
            <a:off x="0" y="0"/>
            <a:ext cx="1006764" cy="6858000"/>
          </a:xfrm>
          <a:prstGeom prst="rect">
            <a:avLst/>
          </a:prstGeom>
          <a:gradFill flip="none" rotWithShape="1">
            <a:gsLst>
              <a:gs pos="0">
                <a:srgbClr val="A51E36"/>
              </a:gs>
              <a:gs pos="44000">
                <a:srgbClr val="A51E36"/>
              </a:gs>
              <a:gs pos="68000">
                <a:srgbClr val="A51E36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008E1ABD-2109-FCE7-2AB2-DB8C5CC520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19"/>
            <a:ext cx="996385" cy="7573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B520FD-CDF8-1104-F7DC-E11E34259C6C}"/>
              </a:ext>
            </a:extLst>
          </p:cNvPr>
          <p:cNvSpPr txBox="1"/>
          <p:nvPr/>
        </p:nvSpPr>
        <p:spPr>
          <a:xfrm>
            <a:off x="4089329" y="64886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3B01716-1BF5-985A-D0AC-2959EED5B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472" y="2800290"/>
            <a:ext cx="11003528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Didact Gothic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1673083-4DD6-055F-A19A-3C302AA20CF4}"/>
              </a:ext>
            </a:extLst>
          </p:cNvPr>
          <p:cNvSpPr txBox="1"/>
          <p:nvPr/>
        </p:nvSpPr>
        <p:spPr>
          <a:xfrm>
            <a:off x="1183821" y="1483179"/>
            <a:ext cx="970189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Calibri"/>
                <a:ea typeface="华文楷体"/>
                <a:cs typeface="Calibri"/>
              </a:rPr>
              <a:t>Load the original G-code and optimized G-code in PrusaSlicer</a:t>
            </a:r>
            <a:endParaRPr lang="zh-CN" altLang="en-US">
              <a:solidFill>
                <a:schemeClr val="bg1"/>
              </a:solidFill>
              <a:latin typeface="Calibri"/>
              <a:ea typeface="华文楷体"/>
              <a:cs typeface="Calibri"/>
            </a:endParaRPr>
          </a:p>
        </p:txBody>
      </p:sp>
      <p:pic>
        <p:nvPicPr>
          <p:cNvPr id="5" name="图片 4" descr="图片">
            <a:extLst>
              <a:ext uri="{FF2B5EF4-FFF2-40B4-BE49-F238E27FC236}">
                <a16:creationId xmlns:a16="http://schemas.microsoft.com/office/drawing/2014/main" id="{60D85EA6-C2B2-8AC7-E497-DF51FDC8F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699" y="2449286"/>
            <a:ext cx="5345459" cy="3252108"/>
          </a:xfrm>
          <a:prstGeom prst="rect">
            <a:avLst/>
          </a:prstGeom>
        </p:spPr>
      </p:pic>
      <p:pic>
        <p:nvPicPr>
          <p:cNvPr id="10" name="图片 9" descr="图片">
            <a:extLst>
              <a:ext uri="{FF2B5EF4-FFF2-40B4-BE49-F238E27FC236}">
                <a16:creationId xmlns:a16="http://schemas.microsoft.com/office/drawing/2014/main" id="{063982CD-D440-E335-0E35-9418CDD9F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342" y="2462893"/>
            <a:ext cx="5603995" cy="325210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894967B-DC8E-A99B-4D67-1D1B1383CD72}"/>
              </a:ext>
            </a:extLst>
          </p:cNvPr>
          <p:cNvSpPr txBox="1"/>
          <p:nvPr/>
        </p:nvSpPr>
        <p:spPr>
          <a:xfrm>
            <a:off x="2585357" y="5864678"/>
            <a:ext cx="219075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Calibri"/>
                <a:ea typeface="华文楷体"/>
                <a:cs typeface="Calibri"/>
              </a:rPr>
              <a:t>Original G-code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D9218A4-4698-64E3-82B6-EC9656F42116}"/>
              </a:ext>
            </a:extLst>
          </p:cNvPr>
          <p:cNvSpPr txBox="1"/>
          <p:nvPr/>
        </p:nvSpPr>
        <p:spPr>
          <a:xfrm>
            <a:off x="8313964" y="5864678"/>
            <a:ext cx="257175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Calibri"/>
                <a:ea typeface="华文楷体"/>
                <a:cs typeface="Calibri"/>
              </a:rPr>
              <a:t>Optimized G-code</a:t>
            </a:r>
          </a:p>
        </p:txBody>
      </p:sp>
    </p:spTree>
    <p:extLst>
      <p:ext uri="{BB962C8B-B14F-4D97-AF65-F5344CB8AC3E}">
        <p14:creationId xmlns:p14="http://schemas.microsoft.com/office/powerpoint/2010/main" val="638149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51E36"/>
            </a:gs>
            <a:gs pos="7000">
              <a:schemeClr val="tx1"/>
            </a:gs>
            <a:gs pos="92000">
              <a:schemeClr val="tx1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C6ECE2-8BCC-7C2B-CF42-E61828DE0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C72C7-9F11-B88A-E0E0-BD5539C51B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385" y="55419"/>
            <a:ext cx="11185236" cy="1112363"/>
          </a:xfrm>
          <a:noFill/>
        </p:spPr>
        <p:txBody>
          <a:bodyPr>
            <a:normAutofit/>
          </a:bodyPr>
          <a:lstStyle/>
          <a:p>
            <a:pPr algn="ctr"/>
            <a:r>
              <a:rPr lang="en-US" altLang="en-US" sz="3600" b="1" spc="0">
                <a:solidFill>
                  <a:prstClr val="black"/>
                </a:solidFill>
                <a:effectLst/>
                <a:latin typeface="Didact Gothic"/>
                <a:cs typeface="Calibri"/>
              </a:rPr>
              <a:t>Testing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CEE5CA-3674-DB09-FFEE-0117C81BF4BE}"/>
              </a:ext>
            </a:extLst>
          </p:cNvPr>
          <p:cNvSpPr/>
          <p:nvPr/>
        </p:nvSpPr>
        <p:spPr>
          <a:xfrm>
            <a:off x="0" y="0"/>
            <a:ext cx="1006764" cy="6858000"/>
          </a:xfrm>
          <a:prstGeom prst="rect">
            <a:avLst/>
          </a:prstGeom>
          <a:gradFill flip="none" rotWithShape="1">
            <a:gsLst>
              <a:gs pos="0">
                <a:srgbClr val="A51E36"/>
              </a:gs>
              <a:gs pos="44000">
                <a:srgbClr val="A51E36"/>
              </a:gs>
              <a:gs pos="68000">
                <a:srgbClr val="A51E36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65801A42-F27F-EAC9-D2CF-09911B07B3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19"/>
            <a:ext cx="996385" cy="7573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121EEC-20E9-65AE-47F7-13F50EF75B8C}"/>
              </a:ext>
            </a:extLst>
          </p:cNvPr>
          <p:cNvSpPr txBox="1"/>
          <p:nvPr/>
        </p:nvSpPr>
        <p:spPr>
          <a:xfrm>
            <a:off x="4089329" y="64886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78AA800-B542-7E21-5455-84E559E72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472" y="2800290"/>
            <a:ext cx="11003528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Didact Gothic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05F309-4935-E655-CE97-49D69732CD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127899"/>
              </p:ext>
            </p:extLst>
          </p:nvPr>
        </p:nvGraphicFramePr>
        <p:xfrm>
          <a:off x="1824548" y="1167782"/>
          <a:ext cx="9731376" cy="439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5688">
                  <a:extLst>
                    <a:ext uri="{9D8B030D-6E8A-4147-A177-3AD203B41FA5}">
                      <a16:colId xmlns:a16="http://schemas.microsoft.com/office/drawing/2014/main" val="885156731"/>
                    </a:ext>
                  </a:extLst>
                </a:gridCol>
                <a:gridCol w="4865688">
                  <a:extLst>
                    <a:ext uri="{9D8B030D-6E8A-4147-A177-3AD203B41FA5}">
                      <a16:colId xmlns:a16="http://schemas.microsoft.com/office/drawing/2014/main" val="1909532933"/>
                    </a:ext>
                  </a:extLst>
                </a:gridCol>
              </a:tblGrid>
              <a:tr h="41859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Before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</a:rPr>
                        <a:t>After Optimization</a:t>
                      </a:r>
                    </a:p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773605"/>
                  </a:ext>
                </a:extLst>
              </a:tr>
              <a:tr h="366792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716083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1708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51E36"/>
            </a:gs>
            <a:gs pos="7000">
              <a:schemeClr val="tx1"/>
            </a:gs>
            <a:gs pos="92000">
              <a:schemeClr val="tx1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C0041B-13A9-689E-830B-0CAA1F173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55B1B-B85D-EC53-0E24-5FA5967FDC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385" y="55419"/>
            <a:ext cx="11185236" cy="1112363"/>
          </a:xfrm>
          <a:noFill/>
        </p:spPr>
        <p:txBody>
          <a:bodyPr>
            <a:normAutofit fontScale="90000"/>
          </a:bodyPr>
          <a:lstStyle/>
          <a:p>
            <a:pPr algn="ctr"/>
            <a:r>
              <a:rPr lang="en-US" altLang="en-US" sz="3600" b="1" spc="0">
                <a:solidFill>
                  <a:prstClr val="black"/>
                </a:solidFill>
                <a:effectLst/>
                <a:latin typeface="Didact Gothic"/>
                <a:cs typeface="Calibri"/>
              </a:rPr>
              <a:t>Testing</a:t>
            </a:r>
            <a:br>
              <a:rPr lang="en-US" altLang="en-US" sz="4000" b="0" i="0" u="none" strike="noStrike" cap="none" normalizeH="0" baseline="0">
                <a:ln>
                  <a:noFill/>
                </a:ln>
                <a:effectLst/>
                <a:latin typeface="Didact Gothic" panose="00000500000000000000" pitchFamily="2" charset="0"/>
              </a:rPr>
            </a:br>
            <a:endParaRPr lang="en-US" sz="4000" b="1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C62421-06B7-C657-D875-B2DE5A9E1AE4}"/>
              </a:ext>
            </a:extLst>
          </p:cNvPr>
          <p:cNvSpPr/>
          <p:nvPr/>
        </p:nvSpPr>
        <p:spPr>
          <a:xfrm>
            <a:off x="0" y="0"/>
            <a:ext cx="1006764" cy="6858000"/>
          </a:xfrm>
          <a:prstGeom prst="rect">
            <a:avLst/>
          </a:prstGeom>
          <a:gradFill flip="none" rotWithShape="1">
            <a:gsLst>
              <a:gs pos="0">
                <a:srgbClr val="A51E36"/>
              </a:gs>
              <a:gs pos="44000">
                <a:srgbClr val="A51E36"/>
              </a:gs>
              <a:gs pos="68000">
                <a:srgbClr val="A51E36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D701D168-9702-A351-39C8-26472753E3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19"/>
            <a:ext cx="996385" cy="7573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565482-0547-14A5-0D2B-C5896EFCD062}"/>
              </a:ext>
            </a:extLst>
          </p:cNvPr>
          <p:cNvSpPr txBox="1"/>
          <p:nvPr/>
        </p:nvSpPr>
        <p:spPr>
          <a:xfrm>
            <a:off x="4089329" y="64886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42C3F5D-972F-B888-6797-60838CE68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472" y="2800290"/>
            <a:ext cx="11003528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Didact Gothic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E95981E-B004-03D2-FF0B-E3A25AF743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633381"/>
              </p:ext>
            </p:extLst>
          </p:nvPr>
        </p:nvGraphicFramePr>
        <p:xfrm>
          <a:off x="1824548" y="1167782"/>
          <a:ext cx="9731376" cy="43994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865688">
                  <a:extLst>
                    <a:ext uri="{9D8B030D-6E8A-4147-A177-3AD203B41FA5}">
                      <a16:colId xmlns:a16="http://schemas.microsoft.com/office/drawing/2014/main" val="885156731"/>
                    </a:ext>
                  </a:extLst>
                </a:gridCol>
                <a:gridCol w="4865688">
                  <a:extLst>
                    <a:ext uri="{9D8B030D-6E8A-4147-A177-3AD203B41FA5}">
                      <a16:colId xmlns:a16="http://schemas.microsoft.com/office/drawing/2014/main" val="1909532933"/>
                    </a:ext>
                  </a:extLst>
                </a:gridCol>
              </a:tblGrid>
              <a:tr h="41859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/>
                        </a:rPr>
                        <a:t>Before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After Optimization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773605"/>
                  </a:ext>
                </a:extLst>
              </a:tr>
              <a:tr h="366792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083872"/>
                  </a:ext>
                </a:extLst>
              </a:tr>
            </a:tbl>
          </a:graphicData>
        </a:graphic>
      </p:graphicFrame>
      <p:pic>
        <p:nvPicPr>
          <p:cNvPr id="7" name="图片 6" descr="图片">
            <a:extLst>
              <a:ext uri="{FF2B5EF4-FFF2-40B4-BE49-F238E27FC236}">
                <a16:creationId xmlns:a16="http://schemas.microsoft.com/office/drawing/2014/main" id="{B40EC8BC-7E17-724C-9441-4F25F8336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038" y="1898196"/>
            <a:ext cx="4869997" cy="3660321"/>
          </a:xfrm>
          <a:prstGeom prst="rect">
            <a:avLst/>
          </a:prstGeom>
        </p:spPr>
      </p:pic>
      <p:pic>
        <p:nvPicPr>
          <p:cNvPr id="9" name="图片 8" descr="图片">
            <a:extLst>
              <a:ext uri="{FF2B5EF4-FFF2-40B4-BE49-F238E27FC236}">
                <a16:creationId xmlns:a16="http://schemas.microsoft.com/office/drawing/2014/main" id="{67F7178D-A9F9-C7FB-CB84-B86184ED4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1993" y="1898877"/>
            <a:ext cx="4863193" cy="367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165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51E36"/>
            </a:gs>
            <a:gs pos="7000">
              <a:schemeClr val="tx1"/>
            </a:gs>
            <a:gs pos="92000">
              <a:schemeClr val="tx1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8FC67B-4B30-C191-F76B-564B6D6A5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BE70E-7E80-8B46-8FB4-B2338F42C3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385" y="55419"/>
            <a:ext cx="11185236" cy="1112363"/>
          </a:xfrm>
          <a:noFill/>
        </p:spPr>
        <p:txBody>
          <a:bodyPr>
            <a:normAutofit/>
          </a:bodyPr>
          <a:lstStyle/>
          <a:p>
            <a:pPr algn="ctr"/>
            <a:r>
              <a:rPr kumimoji="0" lang="en-US" altLang="en-US" sz="3600" b="1" i="0" u="none" strike="noStrike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latin typeface="Calibri"/>
                <a:ea typeface="Calibri"/>
                <a:cs typeface="Calibri"/>
              </a:rPr>
              <a:t>Future Work</a:t>
            </a:r>
            <a:endParaRPr lang="en-US" altLang="en-US" sz="4000" dirty="0">
              <a:solidFill>
                <a:prstClr val="black"/>
              </a:solidFill>
              <a:effectLst/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4E2A8E-DC39-9C79-D72B-B30D9F269E8B}"/>
              </a:ext>
            </a:extLst>
          </p:cNvPr>
          <p:cNvSpPr/>
          <p:nvPr/>
        </p:nvSpPr>
        <p:spPr>
          <a:xfrm>
            <a:off x="0" y="0"/>
            <a:ext cx="1006764" cy="6858000"/>
          </a:xfrm>
          <a:prstGeom prst="rect">
            <a:avLst/>
          </a:prstGeom>
          <a:gradFill flip="none" rotWithShape="1">
            <a:gsLst>
              <a:gs pos="0">
                <a:srgbClr val="A51E36"/>
              </a:gs>
              <a:gs pos="44000">
                <a:srgbClr val="A51E36"/>
              </a:gs>
              <a:gs pos="68000">
                <a:srgbClr val="A51E36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7DC6EF9F-9DA8-9E71-76C9-9A10A5FCF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19"/>
            <a:ext cx="996385" cy="7573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D05184-5165-92A5-BF3A-B0A6480FCE68}"/>
              </a:ext>
            </a:extLst>
          </p:cNvPr>
          <p:cNvSpPr txBox="1"/>
          <p:nvPr/>
        </p:nvSpPr>
        <p:spPr>
          <a:xfrm>
            <a:off x="4089329" y="64886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09DC206-F3D7-749B-1AFA-95FEA78DE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472" y="2800290"/>
            <a:ext cx="11003528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Didact Gothic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B377E0-D2D7-D2F6-D81C-B13D22D47478}"/>
              </a:ext>
            </a:extLst>
          </p:cNvPr>
          <p:cNvSpPr txBox="1"/>
          <p:nvPr/>
        </p:nvSpPr>
        <p:spPr>
          <a:xfrm>
            <a:off x="1600199" y="1742212"/>
            <a:ext cx="10391775" cy="286232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Current Limitation:</a:t>
            </a:r>
          </a:p>
          <a:p>
            <a:endParaRPr lang="en-US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Does not include global route optimization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Longer run-time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May be less effective for high-complexity geometries</a:t>
            </a:r>
          </a:p>
          <a:p>
            <a:endParaRPr lang="en-US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r>
              <a:rPr lang="en-US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Future Direction:</a:t>
            </a:r>
          </a:p>
          <a:p>
            <a:endParaRPr lang="en-US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Integrate global optimization methods (e.g., TSP solvers, hybrid heuristics)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Aim to enhance scalability and efficiency</a:t>
            </a:r>
          </a:p>
        </p:txBody>
      </p:sp>
    </p:spTree>
    <p:extLst>
      <p:ext uri="{BB962C8B-B14F-4D97-AF65-F5344CB8AC3E}">
        <p14:creationId xmlns:p14="http://schemas.microsoft.com/office/powerpoint/2010/main" val="3178510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51E36"/>
            </a:gs>
            <a:gs pos="7000">
              <a:schemeClr val="tx1"/>
            </a:gs>
            <a:gs pos="92000">
              <a:schemeClr val="tx1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2FB031-4A1C-5B2F-6EC6-40A025128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37486-E83A-EEAF-7CB6-B9B298156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385" y="55419"/>
            <a:ext cx="11185236" cy="1112363"/>
          </a:xfrm>
          <a:noFill/>
        </p:spPr>
        <p:txBody>
          <a:bodyPr>
            <a:normAutofit/>
          </a:bodyPr>
          <a:lstStyle/>
          <a:p>
            <a:pPr algn="ctr"/>
            <a:r>
              <a:rPr kumimoji="0" lang="en-US" altLang="en-US" sz="3600" b="1" i="0" u="none" strike="noStrike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latin typeface="Calibri"/>
                <a:ea typeface="Calibri"/>
                <a:cs typeface="Calibri"/>
              </a:rPr>
              <a:t>Conclusion</a:t>
            </a:r>
            <a:endParaRPr lang="en-US" altLang="en-US" sz="4000" dirty="0">
              <a:solidFill>
                <a:prstClr val="black"/>
              </a:solidFill>
              <a:effectLst/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1AD4E6-1DD3-2BC3-D09D-49A5BBAF03ED}"/>
              </a:ext>
            </a:extLst>
          </p:cNvPr>
          <p:cNvSpPr/>
          <p:nvPr/>
        </p:nvSpPr>
        <p:spPr>
          <a:xfrm>
            <a:off x="0" y="0"/>
            <a:ext cx="1006764" cy="6858000"/>
          </a:xfrm>
          <a:prstGeom prst="rect">
            <a:avLst/>
          </a:prstGeom>
          <a:gradFill flip="none" rotWithShape="1">
            <a:gsLst>
              <a:gs pos="0">
                <a:srgbClr val="A51E36"/>
              </a:gs>
              <a:gs pos="44000">
                <a:srgbClr val="A51E36"/>
              </a:gs>
              <a:gs pos="68000">
                <a:srgbClr val="A51E36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1ECEE58C-35A0-821F-7FF0-A23B7FC3CC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19"/>
            <a:ext cx="996385" cy="7573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1E6774-3133-496E-157C-F0D070BFC569}"/>
              </a:ext>
            </a:extLst>
          </p:cNvPr>
          <p:cNvSpPr txBox="1"/>
          <p:nvPr/>
        </p:nvSpPr>
        <p:spPr>
          <a:xfrm>
            <a:off x="4089329" y="64886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1CEF972-52B4-6D36-8685-38F3AC842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472" y="2800290"/>
            <a:ext cx="11003528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Didact Gothic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F791CE-3033-6093-8E37-5763C91DC2C3}"/>
              </a:ext>
            </a:extLst>
          </p:cNvPr>
          <p:cNvSpPr txBox="1"/>
          <p:nvPr/>
        </p:nvSpPr>
        <p:spPr>
          <a:xfrm>
            <a:off x="1600199" y="1742212"/>
            <a:ext cx="10391775" cy="25853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Greedy Algorithm Efficiency:</a:t>
            </a:r>
          </a:p>
          <a:p>
            <a:endParaRPr lang="en-US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Two-stage optimization significantly reduces printing time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Demonstrated effectiveness across multiple model types</a:t>
            </a:r>
          </a:p>
          <a:p>
            <a:endParaRPr lang="en-US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r>
              <a:rPr lang="en-US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Low Computational Requirement:</a:t>
            </a:r>
          </a:p>
          <a:p>
            <a:endParaRPr lang="en-US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Works on standard PCs or 3D printer control units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Ideal for real-time path planning in resource-constrained environments</a:t>
            </a:r>
          </a:p>
        </p:txBody>
      </p:sp>
    </p:spTree>
    <p:extLst>
      <p:ext uri="{BB962C8B-B14F-4D97-AF65-F5344CB8AC3E}">
        <p14:creationId xmlns:p14="http://schemas.microsoft.com/office/powerpoint/2010/main" val="891482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51E36"/>
            </a:gs>
            <a:gs pos="7000">
              <a:schemeClr val="tx1"/>
            </a:gs>
            <a:gs pos="92000">
              <a:schemeClr val="tx1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8DD6B7-C45C-2160-705A-405FC5E8D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14F9C-DD69-A09B-562A-FDE5191F3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385" y="55419"/>
            <a:ext cx="11185236" cy="1112363"/>
          </a:xfrm>
          <a:noFill/>
        </p:spPr>
        <p:txBody>
          <a:bodyPr>
            <a:normAutofit/>
          </a:bodyPr>
          <a:lstStyle/>
          <a:p>
            <a:pPr algn="ctr"/>
            <a:r>
              <a:rPr lang="en-US" altLang="en-US" sz="3600" b="1" spc="0" dirty="0">
                <a:solidFill>
                  <a:prstClr val="black"/>
                </a:solidFill>
                <a:effectLst/>
                <a:latin typeface="Calibri"/>
                <a:ea typeface="Calibri"/>
                <a:cs typeface="Calibri"/>
              </a:rPr>
              <a:t>Acknowledgements</a:t>
            </a:r>
            <a:endParaRPr lang="en-US" altLang="en-US" sz="4000" dirty="0">
              <a:solidFill>
                <a:prstClr val="black"/>
              </a:solidFill>
              <a:effectLst/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20D827-FF7B-74C8-DA81-857BC1007947}"/>
              </a:ext>
            </a:extLst>
          </p:cNvPr>
          <p:cNvSpPr/>
          <p:nvPr/>
        </p:nvSpPr>
        <p:spPr>
          <a:xfrm>
            <a:off x="0" y="0"/>
            <a:ext cx="1006764" cy="6858000"/>
          </a:xfrm>
          <a:prstGeom prst="rect">
            <a:avLst/>
          </a:prstGeom>
          <a:gradFill flip="none" rotWithShape="1">
            <a:gsLst>
              <a:gs pos="0">
                <a:srgbClr val="A51E36"/>
              </a:gs>
              <a:gs pos="44000">
                <a:srgbClr val="A51E36"/>
              </a:gs>
              <a:gs pos="68000">
                <a:srgbClr val="A51E36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EE988BBD-868B-4E4A-F6DD-9D7D777F38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19"/>
            <a:ext cx="996385" cy="7573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0979C7-DBCD-5C2D-CA6B-5A333AB8BD78}"/>
              </a:ext>
            </a:extLst>
          </p:cNvPr>
          <p:cNvSpPr txBox="1"/>
          <p:nvPr/>
        </p:nvSpPr>
        <p:spPr>
          <a:xfrm>
            <a:off x="4089329" y="64886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CFF5180-EE7B-11BD-31A1-BCA2E2E63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472" y="2800290"/>
            <a:ext cx="11003528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Didact Gothic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F2444F-52DE-E7DF-6317-7D3F40C65CAF}"/>
              </a:ext>
            </a:extLst>
          </p:cNvPr>
          <p:cNvSpPr txBox="1"/>
          <p:nvPr/>
        </p:nvSpPr>
        <p:spPr>
          <a:xfrm>
            <a:off x="1488439" y="1000532"/>
            <a:ext cx="10391775" cy="25853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en-US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Dr. Wenchao Zhou</a:t>
            </a:r>
          </a:p>
          <a:p>
            <a:endParaRPr lang="en-US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Wingdings"/>
              <a:buChar char="§"/>
            </a:pPr>
            <a:r>
              <a:rPr lang="en-US" b="1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PrusaSlicer's</a:t>
            </a:r>
            <a:r>
              <a:rPr lang="en-US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Printables Library</a:t>
            </a:r>
          </a:p>
          <a:p>
            <a:endParaRPr lang="en-US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Wingdings"/>
              <a:buChar char="§"/>
            </a:pPr>
            <a:r>
              <a:rPr lang="en-US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Salman</a:t>
            </a:r>
          </a:p>
          <a:p>
            <a:endParaRPr lang="en-US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Wingdings"/>
              <a:buChar char="§"/>
            </a:pPr>
            <a:r>
              <a:rPr lang="en-US" b="1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Youwen</a:t>
            </a:r>
            <a:endParaRPr lang="en-US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endParaRPr lang="en-US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Wingdings"/>
              <a:buChar char="§"/>
            </a:pPr>
            <a:r>
              <a:rPr lang="en-US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Mehedi</a:t>
            </a:r>
          </a:p>
        </p:txBody>
      </p:sp>
    </p:spTree>
    <p:extLst>
      <p:ext uri="{BB962C8B-B14F-4D97-AF65-F5344CB8AC3E}">
        <p14:creationId xmlns:p14="http://schemas.microsoft.com/office/powerpoint/2010/main" val="295260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51E36"/>
            </a:gs>
            <a:gs pos="7000">
              <a:schemeClr val="tx1"/>
            </a:gs>
            <a:gs pos="92000">
              <a:schemeClr val="tx1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466213-ABA3-9F41-340C-937FFA9EF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48882-8FBF-FAC1-3A7F-5E08F9ACAF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6763" y="55419"/>
            <a:ext cx="10947111" cy="1112363"/>
          </a:xfrm>
          <a:noFill/>
        </p:spPr>
        <p:txBody>
          <a:bodyPr>
            <a:normAutofit fontScale="90000"/>
          </a:bodyPr>
          <a:lstStyle/>
          <a:p>
            <a:pPr algn="ctr"/>
            <a:r>
              <a:rPr lang="en-US" sz="3600" b="1" spc="0">
                <a:solidFill>
                  <a:prstClr val="black"/>
                </a:solidFill>
                <a:effectLst/>
                <a:latin typeface="Calibri"/>
                <a:ea typeface="Calibri"/>
                <a:cs typeface="Calibri"/>
              </a:rPr>
              <a:t>References</a:t>
            </a:r>
            <a:br>
              <a:rPr lang="en-US" sz="3600" b="1" spc="0">
                <a:solidFill>
                  <a:prstClr val="black"/>
                </a:solidFill>
                <a:effectLst/>
                <a:latin typeface="Calibri"/>
                <a:ea typeface="Calibri"/>
                <a:cs typeface="Calibri"/>
              </a:rPr>
            </a:br>
            <a:b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</a:br>
            <a:endParaRPr lang="en-US" sz="4000" b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221D80-CA97-D2AA-25F6-9CAC348C5D49}"/>
              </a:ext>
            </a:extLst>
          </p:cNvPr>
          <p:cNvSpPr/>
          <p:nvPr/>
        </p:nvSpPr>
        <p:spPr>
          <a:xfrm>
            <a:off x="0" y="0"/>
            <a:ext cx="1006764" cy="6858000"/>
          </a:xfrm>
          <a:prstGeom prst="rect">
            <a:avLst/>
          </a:prstGeom>
          <a:gradFill flip="none" rotWithShape="1">
            <a:gsLst>
              <a:gs pos="0">
                <a:srgbClr val="A51E36"/>
              </a:gs>
              <a:gs pos="44000">
                <a:srgbClr val="A51E36"/>
              </a:gs>
              <a:gs pos="68000">
                <a:srgbClr val="A51E36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0797337A-DE90-D522-20AA-82E49FEF38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19"/>
            <a:ext cx="996385" cy="7573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75B2AD-7AAF-0CD4-4B4C-A6A33774803C}"/>
              </a:ext>
            </a:extLst>
          </p:cNvPr>
          <p:cNvSpPr txBox="1"/>
          <p:nvPr/>
        </p:nvSpPr>
        <p:spPr>
          <a:xfrm>
            <a:off x="4089329" y="64886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3AB4AB7-7389-5BAD-4420-2C60BE928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472" y="2800290"/>
            <a:ext cx="11003528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Didact Gothic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E573E9-5206-0C72-FD5C-C6CB0B251C6F}"/>
              </a:ext>
            </a:extLst>
          </p:cNvPr>
          <p:cNvSpPr txBox="1"/>
          <p:nvPr/>
        </p:nvSpPr>
        <p:spPr>
          <a:xfrm>
            <a:off x="1188473" y="1223201"/>
            <a:ext cx="10765402" cy="4608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lnSpc>
                <a:spcPts val="1569"/>
              </a:lnSpc>
              <a:buNone/>
            </a:pPr>
            <a:r>
              <a:rPr lang="en-US" sz="18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[1]</a:t>
            </a:r>
            <a:r>
              <a:rPr lang="zh-CN" sz="1800" b="0" i="0">
                <a:solidFill>
                  <a:srgbClr val="000000"/>
                </a:solidFill>
                <a:effectLst/>
                <a:latin typeface="Calibri"/>
                <a:ea typeface="Calibri" panose="020F0502020204030204" pitchFamily="34" charset="0"/>
                <a:cs typeface="Calibri"/>
              </a:rPr>
              <a:t> </a:t>
            </a:r>
            <a:r>
              <a:rPr lang="en-US" sz="18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K.-Y. Fok, C.-T. Cheng, N. </a:t>
            </a:r>
            <a:r>
              <a:rPr lang="en-US" sz="1800" b="0" i="0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Ganganath</a:t>
            </a:r>
            <a:r>
              <a:rPr lang="en-US" sz="18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, H. H.-C. </a:t>
            </a:r>
            <a:r>
              <a:rPr lang="en-US" sz="1800" b="0" i="0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Iu</a:t>
            </a:r>
            <a:r>
              <a:rPr lang="en-US" sz="18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, and C. K. Tse, “Accelerating 3D Printing Process Using an Extended Ant Colony Optimization Algorithm,” in </a:t>
            </a:r>
            <a:r>
              <a:rPr lang="en-US" sz="1800" b="0" i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2018 IEEE International Symposium on Circuits and Systems (ISCAS)</a:t>
            </a:r>
            <a:r>
              <a:rPr lang="en-US" sz="18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, May 2018, pp. 1–5. </a:t>
            </a:r>
            <a:r>
              <a:rPr lang="en-US" sz="1800" b="0" i="0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doi</a:t>
            </a:r>
            <a:r>
              <a:rPr lang="en-US" sz="18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: 10.1109/ISCAS.2018.8351113.</a:t>
            </a:r>
            <a:r>
              <a:rPr lang="zh-CN" sz="1800" b="0" i="0">
                <a:solidFill>
                  <a:srgbClr val="000000"/>
                </a:solidFill>
                <a:effectLst/>
                <a:latin typeface="Calibri"/>
                <a:ea typeface="Times New Roman" panose="02020603050405020304" pitchFamily="18" charset="0"/>
                <a:cs typeface="Calibri"/>
              </a:rPr>
              <a:t> </a:t>
            </a:r>
            <a:endParaRPr lang="en-US" altLang="zh-CN" sz="1800" b="0" i="0">
              <a:solidFill>
                <a:srgbClr val="000000"/>
              </a:solidFill>
              <a:effectLst/>
              <a:latin typeface="Calibri"/>
              <a:ea typeface="Calibri"/>
              <a:cs typeface="Calibri"/>
            </a:endParaRPr>
          </a:p>
          <a:p>
            <a:pPr algn="just" rtl="0" fontAlgn="base">
              <a:lnSpc>
                <a:spcPts val="1569"/>
              </a:lnSpc>
              <a:buNone/>
            </a:pPr>
            <a:endParaRPr lang="zh-CN" b="0" i="0">
              <a:solidFill>
                <a:srgbClr val="000000"/>
              </a:solidFill>
              <a:effectLst/>
              <a:latin typeface="Calibri"/>
              <a:cs typeface="Calibri"/>
            </a:endParaRPr>
          </a:p>
          <a:p>
            <a:pPr algn="just" rtl="0" fontAlgn="base">
              <a:lnSpc>
                <a:spcPts val="1569"/>
              </a:lnSpc>
              <a:buNone/>
            </a:pPr>
            <a:r>
              <a:rPr lang="en-US" sz="18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[2]</a:t>
            </a:r>
            <a:r>
              <a:rPr lang="zh-CN" sz="1800" b="0" i="0">
                <a:solidFill>
                  <a:srgbClr val="000000"/>
                </a:solidFill>
                <a:effectLst/>
                <a:latin typeface="Calibri"/>
                <a:ea typeface="Calibri" panose="020F0502020204030204" pitchFamily="34" charset="0"/>
                <a:cs typeface="Calibri"/>
              </a:rPr>
              <a:t> </a:t>
            </a:r>
            <a:r>
              <a:rPr lang="en-US" sz="18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X. Lin, Z. Huang, W. Shi, and K. Guo, “A Novel Ant Colony Algorithm for Optimizing 3D Printing Paths,” </a:t>
            </a:r>
            <a:r>
              <a:rPr lang="en-US" sz="1800" b="0" i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Electronics</a:t>
            </a:r>
            <a:r>
              <a:rPr lang="en-US" sz="18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, vol. 13, no. 16, Art. no. 16, Jan. 2024, </a:t>
            </a:r>
            <a:r>
              <a:rPr lang="en-US" sz="1800" b="0" i="0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doi</a:t>
            </a:r>
            <a:r>
              <a:rPr lang="en-US" sz="18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: 10.3390/electronics13163252.</a:t>
            </a:r>
            <a:r>
              <a:rPr lang="zh-CN" sz="1800" b="0" i="0">
                <a:solidFill>
                  <a:srgbClr val="000000"/>
                </a:solidFill>
                <a:effectLst/>
                <a:latin typeface="Calibri"/>
                <a:ea typeface="Times New Roman" panose="02020603050405020304" pitchFamily="18" charset="0"/>
                <a:cs typeface="Calibri"/>
              </a:rPr>
              <a:t> </a:t>
            </a:r>
            <a:endParaRPr lang="en-US" altLang="zh-CN" sz="1800" b="0" i="0">
              <a:solidFill>
                <a:srgbClr val="000000"/>
              </a:solidFill>
              <a:effectLst/>
              <a:latin typeface="Calibri"/>
              <a:ea typeface="Calibri"/>
              <a:cs typeface="Calibri"/>
            </a:endParaRPr>
          </a:p>
          <a:p>
            <a:pPr algn="just" rtl="0" fontAlgn="base">
              <a:lnSpc>
                <a:spcPts val="1569"/>
              </a:lnSpc>
              <a:buNone/>
            </a:pPr>
            <a:endParaRPr lang="zh-CN" b="0" i="0">
              <a:solidFill>
                <a:srgbClr val="000000"/>
              </a:solidFill>
              <a:effectLst/>
              <a:latin typeface="Calibri"/>
              <a:cs typeface="Calibri"/>
            </a:endParaRPr>
          </a:p>
          <a:p>
            <a:pPr algn="just" rtl="0" fontAlgn="base">
              <a:lnSpc>
                <a:spcPts val="1569"/>
              </a:lnSpc>
              <a:buNone/>
            </a:pPr>
            <a:r>
              <a:rPr lang="en-US" sz="18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[3]</a:t>
            </a:r>
            <a:r>
              <a:rPr lang="zh-CN" sz="1800" b="0" i="0">
                <a:solidFill>
                  <a:srgbClr val="000000"/>
                </a:solidFill>
                <a:effectLst/>
                <a:latin typeface="Calibri"/>
                <a:ea typeface="Calibri" panose="020F0502020204030204" pitchFamily="34" charset="0"/>
                <a:cs typeface="Calibri"/>
              </a:rPr>
              <a:t> </a:t>
            </a:r>
            <a:r>
              <a:rPr lang="en-US" sz="18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P. Lechowicz, L. Koszalka, I. Pozniak-Koszalka, and A. Kasprzak, “Path optimization in 3D printer: Algorithms and experimentation system,” in </a:t>
            </a:r>
            <a:r>
              <a:rPr lang="en-US" sz="1800" b="0" i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2016 4th International Symposium on Computational and Business Intelligence (ISCBI)</a:t>
            </a:r>
            <a:r>
              <a:rPr lang="en-US" sz="18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, Sep. 2016, pp. 137–142. </a:t>
            </a:r>
            <a:r>
              <a:rPr lang="en-US" sz="1800" b="0" i="0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doi</a:t>
            </a:r>
            <a:r>
              <a:rPr lang="en-US" sz="18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: 10.1109/ISCBI.2016.7743272.</a:t>
            </a:r>
            <a:r>
              <a:rPr lang="zh-CN" sz="1800" b="0" i="0">
                <a:solidFill>
                  <a:srgbClr val="000000"/>
                </a:solidFill>
                <a:effectLst/>
                <a:latin typeface="Calibri"/>
                <a:ea typeface="Times New Roman" panose="02020603050405020304" pitchFamily="18" charset="0"/>
                <a:cs typeface="Calibri"/>
              </a:rPr>
              <a:t> </a:t>
            </a:r>
            <a:endParaRPr lang="en-US" altLang="zh-CN" sz="1800" b="0" i="0">
              <a:solidFill>
                <a:srgbClr val="000000"/>
              </a:solidFill>
              <a:effectLst/>
              <a:latin typeface="Calibri"/>
              <a:ea typeface="Calibri"/>
              <a:cs typeface="Calibri"/>
            </a:endParaRPr>
          </a:p>
          <a:p>
            <a:pPr algn="just" rtl="0" fontAlgn="base">
              <a:lnSpc>
                <a:spcPts val="1569"/>
              </a:lnSpc>
              <a:buNone/>
            </a:pPr>
            <a:endParaRPr lang="zh-CN" b="0" i="0">
              <a:solidFill>
                <a:srgbClr val="000000"/>
              </a:solidFill>
              <a:effectLst/>
              <a:latin typeface="Calibri"/>
              <a:cs typeface="Calibri"/>
            </a:endParaRPr>
          </a:p>
          <a:p>
            <a:pPr algn="just" rtl="0" fontAlgn="base">
              <a:lnSpc>
                <a:spcPts val="1569"/>
              </a:lnSpc>
              <a:buNone/>
            </a:pPr>
            <a:r>
              <a:rPr lang="en-US" sz="18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[4]</a:t>
            </a:r>
            <a:r>
              <a:rPr lang="zh-CN" sz="1800" b="0" i="0">
                <a:solidFill>
                  <a:srgbClr val="000000"/>
                </a:solidFill>
                <a:effectLst/>
                <a:latin typeface="Calibri"/>
                <a:ea typeface="Calibri" panose="020F0502020204030204" pitchFamily="34" charset="0"/>
                <a:cs typeface="Calibri"/>
              </a:rPr>
              <a:t> </a:t>
            </a:r>
            <a:r>
              <a:rPr lang="en-US" sz="18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Z. Ma, W. Wan, L. Song, C. Liu, H. Liu, and Y. Wu, “An Approach of Path Optimization Algorithm for 3D Concrete Printing Based on Graph Theory,” </a:t>
            </a:r>
            <a:r>
              <a:rPr lang="en-US" sz="1800" b="0" i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Applied Sciences</a:t>
            </a:r>
            <a:r>
              <a:rPr lang="en-US" sz="18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, vol. 12, no. 22, Art. no. 22, Jan. 2022, </a:t>
            </a:r>
            <a:r>
              <a:rPr lang="en-US" sz="1800" b="0" i="0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doi</a:t>
            </a:r>
            <a:r>
              <a:rPr lang="en-US" sz="18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: 10.3390/app122211315.</a:t>
            </a:r>
            <a:r>
              <a:rPr lang="zh-CN" sz="1800" b="0" i="0">
                <a:solidFill>
                  <a:srgbClr val="000000"/>
                </a:solidFill>
                <a:effectLst/>
                <a:latin typeface="Calibri"/>
                <a:ea typeface="Times New Roman" panose="02020603050405020304" pitchFamily="18" charset="0"/>
                <a:cs typeface="Calibri"/>
              </a:rPr>
              <a:t> </a:t>
            </a:r>
            <a:endParaRPr lang="en-US" altLang="zh-CN" sz="1800" b="0" i="0">
              <a:solidFill>
                <a:srgbClr val="000000"/>
              </a:solidFill>
              <a:effectLst/>
              <a:latin typeface="Calibri"/>
              <a:ea typeface="Calibri"/>
              <a:cs typeface="Calibri"/>
            </a:endParaRPr>
          </a:p>
          <a:p>
            <a:pPr algn="just" rtl="0" fontAlgn="base">
              <a:lnSpc>
                <a:spcPts val="1569"/>
              </a:lnSpc>
              <a:buNone/>
            </a:pPr>
            <a:endParaRPr lang="zh-CN" b="0" i="0">
              <a:solidFill>
                <a:srgbClr val="000000"/>
              </a:solidFill>
              <a:effectLst/>
              <a:latin typeface="Calibri"/>
              <a:cs typeface="Calibri"/>
            </a:endParaRPr>
          </a:p>
          <a:p>
            <a:pPr algn="just" rtl="0" fontAlgn="base">
              <a:lnSpc>
                <a:spcPts val="1569"/>
              </a:lnSpc>
              <a:buNone/>
            </a:pPr>
            <a:r>
              <a:rPr lang="en-US" sz="18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[5]</a:t>
            </a:r>
            <a:r>
              <a:rPr lang="zh-CN" sz="1800" b="0" i="0">
                <a:solidFill>
                  <a:srgbClr val="000000"/>
                </a:solidFill>
                <a:effectLst/>
                <a:latin typeface="Calibri"/>
                <a:ea typeface="Calibri" panose="020F0502020204030204" pitchFamily="34" charset="0"/>
                <a:cs typeface="Calibri"/>
              </a:rPr>
              <a:t> </a:t>
            </a:r>
            <a:r>
              <a:rPr lang="en-US" sz="18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K.-Y. Fok, N. </a:t>
            </a:r>
            <a:r>
              <a:rPr lang="en-US" sz="1800" b="0" i="0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Ganganath</a:t>
            </a:r>
            <a:r>
              <a:rPr lang="en-US" sz="18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, C.-T. Cheng, H. H.-C. </a:t>
            </a:r>
            <a:r>
              <a:rPr lang="en-US" sz="1800" b="0" i="0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Iu</a:t>
            </a:r>
            <a:r>
              <a:rPr lang="en-US" sz="18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, and C. K. Tse, “A Nozzle Path Planner for 3-D Printing Applications,” </a:t>
            </a:r>
            <a:r>
              <a:rPr lang="en-US" sz="1800" b="0" i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IEEE Transactions on Industrial Informatics</a:t>
            </a:r>
            <a:r>
              <a:rPr lang="en-US" sz="18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, vol. 16, no. 10, pp. 6313–6323, Oct. 2020, </a:t>
            </a:r>
            <a:r>
              <a:rPr lang="en-US" sz="1800" b="0" i="0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doi</a:t>
            </a:r>
            <a:r>
              <a:rPr lang="en-US" sz="18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: 10.1109/TII.2019.2962241.</a:t>
            </a:r>
            <a:r>
              <a:rPr lang="zh-CN" sz="1800" b="0" i="0">
                <a:solidFill>
                  <a:srgbClr val="000000"/>
                </a:solidFill>
                <a:effectLst/>
                <a:latin typeface="Calibri"/>
                <a:ea typeface="Times New Roman" panose="02020603050405020304" pitchFamily="18" charset="0"/>
                <a:cs typeface="Calibri"/>
              </a:rPr>
              <a:t> </a:t>
            </a:r>
            <a:endParaRPr lang="en-US" altLang="zh-CN" sz="1800" b="0" i="0">
              <a:solidFill>
                <a:srgbClr val="000000"/>
              </a:solidFill>
              <a:effectLst/>
              <a:latin typeface="Calibri"/>
              <a:ea typeface="Calibri"/>
              <a:cs typeface="Calibri"/>
            </a:endParaRPr>
          </a:p>
          <a:p>
            <a:pPr algn="just" rtl="0" fontAlgn="base">
              <a:lnSpc>
                <a:spcPts val="1569"/>
              </a:lnSpc>
              <a:buNone/>
            </a:pPr>
            <a:endParaRPr lang="zh-CN" b="0" i="0">
              <a:solidFill>
                <a:srgbClr val="000000"/>
              </a:solidFill>
              <a:effectLst/>
              <a:latin typeface="Calibri"/>
              <a:cs typeface="Calibri"/>
            </a:endParaRPr>
          </a:p>
          <a:p>
            <a:pPr algn="just" rtl="0" fontAlgn="base">
              <a:lnSpc>
                <a:spcPts val="1569"/>
              </a:lnSpc>
            </a:pPr>
            <a:r>
              <a:rPr lang="en-US" sz="18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[6]</a:t>
            </a:r>
            <a:r>
              <a:rPr lang="zh-CN" sz="1800" b="0" i="0">
                <a:solidFill>
                  <a:srgbClr val="000000"/>
                </a:solidFill>
                <a:effectLst/>
                <a:latin typeface="Calibri"/>
                <a:ea typeface="Calibri" panose="020F0502020204030204" pitchFamily="34" charset="0"/>
                <a:cs typeface="Calibri"/>
              </a:rPr>
              <a:t> </a:t>
            </a:r>
            <a:r>
              <a:rPr lang="en-US" sz="18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K.-Y. Fok, C.-T. Cheng, and C. K. Tse, “A refinement process for nozzle path planning in 3D printing,” in </a:t>
            </a:r>
            <a:r>
              <a:rPr lang="en-US" sz="1800" b="0" i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2017 IEEE International Symposium on Circuits and Systems (ISCAS)</a:t>
            </a:r>
            <a:r>
              <a:rPr lang="en-US" sz="18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, May 2017, pp. 1–4. </a:t>
            </a:r>
            <a:r>
              <a:rPr lang="en-US" sz="1800" b="0" i="0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doi</a:t>
            </a:r>
            <a:r>
              <a:rPr lang="en-US" sz="18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: 10.1109/ISCAS.2017.8050471.</a:t>
            </a:r>
            <a:r>
              <a:rPr lang="zh-CN" sz="1800" b="0" i="0">
                <a:solidFill>
                  <a:srgbClr val="000000"/>
                </a:solidFill>
                <a:effectLst/>
                <a:latin typeface="Calibri"/>
                <a:ea typeface="Times New Roman" panose="02020603050405020304" pitchFamily="18" charset="0"/>
                <a:cs typeface="Calibri"/>
              </a:rPr>
              <a:t> </a:t>
            </a:r>
            <a:endParaRPr lang="zh-CN" b="0" i="0">
              <a:solidFill>
                <a:srgbClr val="000000"/>
              </a:solidFill>
              <a:effectLst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5465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51E36"/>
            </a:gs>
            <a:gs pos="7000">
              <a:schemeClr val="tx1"/>
            </a:gs>
            <a:gs pos="92000">
              <a:schemeClr val="tx1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FBB3F-8B1E-8CD6-7CAA-AE1A51EF2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6764" y="812801"/>
            <a:ext cx="11185236" cy="3479801"/>
          </a:xfrm>
          <a:noFill/>
        </p:spPr>
        <p:txBody>
          <a:bodyPr>
            <a:noAutofit/>
          </a:bodyPr>
          <a:lstStyle/>
          <a:p>
            <a:pPr algn="ctr"/>
            <a:r>
              <a:rPr lang="en-US" sz="6000" b="1">
                <a:solidFill>
                  <a:schemeClr val="bg1"/>
                </a:solidFill>
                <a:latin typeface="Didact Gothic" panose="00000500000000000000" pitchFamily="2" charset="0"/>
                <a:cs typeface="Calibri" panose="020F0502020204030204" pitchFamily="34" charset="0"/>
              </a:rPr>
              <a:t>Any Questions?</a:t>
            </a:r>
            <a:br>
              <a:rPr lang="en-US" sz="6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6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-----</a:t>
            </a:r>
            <a:br>
              <a:rPr lang="en-US" sz="6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6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6000">
                <a:solidFill>
                  <a:srgbClr val="C00000"/>
                </a:solidFill>
                <a:latin typeface="Didact Gothic" panose="00000500000000000000" pitchFamily="2" charset="0"/>
                <a:cs typeface="Calibri" panose="020F0502020204030204" pitchFamily="34" charset="0"/>
              </a:rPr>
              <a:t>Thank You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D9555-0F48-A452-6F5F-20BFF79DB739}"/>
              </a:ext>
            </a:extLst>
          </p:cNvPr>
          <p:cNvSpPr/>
          <p:nvPr/>
        </p:nvSpPr>
        <p:spPr>
          <a:xfrm>
            <a:off x="0" y="0"/>
            <a:ext cx="1006764" cy="6858000"/>
          </a:xfrm>
          <a:prstGeom prst="rect">
            <a:avLst/>
          </a:prstGeom>
          <a:gradFill flip="none" rotWithShape="1">
            <a:gsLst>
              <a:gs pos="0">
                <a:srgbClr val="A51E36"/>
              </a:gs>
              <a:gs pos="44000">
                <a:srgbClr val="A51E36"/>
              </a:gs>
              <a:gs pos="68000">
                <a:srgbClr val="A51E36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6D89C685-5B29-195D-197B-C26E8DAF4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19"/>
            <a:ext cx="996385" cy="757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139352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4551"/>
      </a:dk2>
      <a:lt2>
        <a:srgbClr val="F2ACD2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3016C5A4-E631-4977-A608-ACFB4755262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b827407-6e23-4f07-a58c-6381fa52f48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615F67F06F37418106556C13BC2EF3" ma:contentTypeVersion="15" ma:contentTypeDescription="Create a new document." ma:contentTypeScope="" ma:versionID="a6b671266de985aa66641b57097e23c1">
  <xsd:schema xmlns:xsd="http://www.w3.org/2001/XMLSchema" xmlns:xs="http://www.w3.org/2001/XMLSchema" xmlns:p="http://schemas.microsoft.com/office/2006/metadata/properties" xmlns:ns3="0995bae3-f9dd-493d-950a-b02bb59922d5" xmlns:ns4="ab827407-6e23-4f07-a58c-6381fa52f480" targetNamespace="http://schemas.microsoft.com/office/2006/metadata/properties" ma:root="true" ma:fieldsID="4b9f7cd0342025380bac10d7b96bec6e" ns3:_="" ns4:_="">
    <xsd:import namespace="0995bae3-f9dd-493d-950a-b02bb59922d5"/>
    <xsd:import namespace="ab827407-6e23-4f07-a58c-6381fa52f480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SearchProperties" minOccurs="0"/>
                <xsd:element ref="ns4:MediaServiceObjectDetectorVersions" minOccurs="0"/>
                <xsd:element ref="ns4:_activity" minOccurs="0"/>
                <xsd:element ref="ns4:MediaServiceDateTaken" minOccurs="0"/>
                <xsd:element ref="ns4:MediaServiceSystemTags" minOccurs="0"/>
                <xsd:element ref="ns4:MediaServiceGenerationTime" minOccurs="0"/>
                <xsd:element ref="ns4:MediaServiceEventHashCode" minOccurs="0"/>
                <xsd:element ref="ns4:MediaLengthInSeconds" minOccurs="0"/>
                <xsd:element ref="ns4:MediaServiceOCR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95bae3-f9dd-493d-950a-b02bb59922d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827407-6e23-4f07-a58c-6381fa52f4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8F85802-E51A-4FA1-B0D1-E9D1791C487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3C6A5B-ADAB-492F-8C71-FF4BAE46F88F}">
  <ds:schemaRefs>
    <ds:schemaRef ds:uri="0995bae3-f9dd-493d-950a-b02bb59922d5"/>
    <ds:schemaRef ds:uri="ab827407-6e23-4f07-a58c-6381fa52f48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D730598-3AE3-4844-85E0-9BDB9D1E32E3}">
  <ds:schemaRefs>
    <ds:schemaRef ds:uri="0995bae3-f9dd-493d-950a-b02bb59922d5"/>
    <ds:schemaRef ds:uri="ab827407-6e23-4f07-a58c-6381fa52f48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79c742c4-e61c-4fa5-be89-a3cb566a80d1}" enabled="0" method="" siteId="{79c742c4-e61c-4fa5-be89-a3cb566a80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Application>Microsoft Office PowerPoint</Application>
  <PresentationFormat>Widescreen</PresentationFormat>
  <Slides>19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Depth</vt:lpstr>
      <vt:lpstr>Smart Nozzle Travel Optimization</vt:lpstr>
      <vt:lpstr>Presentation Outline</vt:lpstr>
      <vt:lpstr>Introduction : Enhancing Path Efficiency in Additive  Manufacturing</vt:lpstr>
      <vt:lpstr>Problem Statement</vt:lpstr>
      <vt:lpstr>Research Objectives</vt:lpstr>
      <vt:lpstr>Design : Model Selection &amp; G-code Generation </vt:lpstr>
      <vt:lpstr>Design </vt:lpstr>
      <vt:lpstr>Design </vt:lpstr>
      <vt:lpstr>Implementation </vt:lpstr>
      <vt:lpstr>Implementation </vt:lpstr>
      <vt:lpstr>Implementation </vt:lpstr>
      <vt:lpstr>Implementation </vt:lpstr>
      <vt:lpstr>Testing</vt:lpstr>
      <vt:lpstr>Testing </vt:lpstr>
      <vt:lpstr>Future Work</vt:lpstr>
      <vt:lpstr>Conclusion</vt:lpstr>
      <vt:lpstr>Acknowledgements</vt:lpstr>
      <vt:lpstr>References  </vt:lpstr>
      <vt:lpstr>Any Questions? -----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Salman Mahmud Prottoy</dc:creator>
  <cp:revision>81</cp:revision>
  <dcterms:created xsi:type="dcterms:W3CDTF">2024-09-09T16:37:35Z</dcterms:created>
  <dcterms:modified xsi:type="dcterms:W3CDTF">2025-05-06T03:48:48Z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0x01010040615F67F06F37418106556C13BC2EF3</vt:lpwstr>
  </property>
</Properties>
</file>